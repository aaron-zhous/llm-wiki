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38000"/>
            <a:ext cx="12192119" cy="72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800000" cy="14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微软雅黑"/>
              </a:rPr>
              <a:t>养老院新员工培训体系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0000"/>
            <a:ext cx="1080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微软雅黑"/>
              </a:rPr>
              <a:t>阶梯型培养 · 标准化 SOP · 数据化验证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80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微软雅黑"/>
              </a:rPr>
              <a:t>V01 · 编制日期 2026 年 8 月 21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760000"/>
            <a:ext cx="1080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编制：刘院长 · 大盛代笔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108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115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122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背景与痛点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165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为什么要做培训体系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08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8000" y="115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0" y="122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三级课程体系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65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初 / 中 / 高 + 性格差异化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34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00" y="241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248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培训师岗位设置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291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一备一用 + 资格 + 阶梯培训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234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8000" y="241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248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绩效挂钩机制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91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奖金 + 系数 + 晋升通道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360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00" y="367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0000" y="374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新护理员筛选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0" y="417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4 项核心标准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360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8000" y="367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0" y="374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三日试岗机制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417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Day 1-3 流程 + 合格判定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486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000" y="493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0" y="500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数据化验证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0000" y="543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指标 + 迭代节奏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4860000"/>
            <a:ext cx="4680000" cy="1007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8000" y="4932000"/>
            <a:ext cx="900000" cy="86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2980B9"/>
                </a:solidFill>
                <a:latin typeface="微软雅黑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0" y="5004000"/>
            <a:ext cx="34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微软雅黑"/>
              </a:rPr>
              <a:t>总结与落款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0" y="5436000"/>
            <a:ext cx="342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签署 + 推行节点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一、背景：为什么做培训体系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400" b="1" i="0">
                <a:solidFill>
                  <a:srgbClr val="2980B9"/>
                </a:solidFill>
                <a:latin typeface="微软雅黑"/>
              </a:rPr>
              <a:t>养老院业务扩张 vs 护理员短缺 → 必须自己培养人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60000"/>
            <a:ext cx="3600000" cy="342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2160000"/>
            <a:ext cx="3600000" cy="28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2178000"/>
            <a:ext cx="34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行业大背景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520000"/>
            <a:ext cx="3420000" cy="298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333333"/>
                </a:solidFill>
                <a:latin typeface="微软雅黑"/>
              </a:rPr>
              <a:t>全国养老院大量缺护理人员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外招难 + 流动性大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必须建立内生培养能力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160000"/>
            <a:ext cx="3600000" cy="342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2160000"/>
            <a:ext cx="360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178000"/>
            <a:ext cx="34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本院特色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520000"/>
            <a:ext cx="3420000" cy="298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333333"/>
                </a:solidFill>
                <a:latin typeface="微软雅黑"/>
              </a:rPr>
              <a:t>团队合作补位模式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24h 班专注核心照护（吃喝拉撒睡）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白班剥离杂务，专做卫生消毒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160000"/>
            <a:ext cx="3600000" cy="342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160000"/>
            <a:ext cx="360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2178000"/>
            <a:ext cx="34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业务机会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2520000"/>
            <a:ext cx="3420000" cy="298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333333"/>
                </a:solidFill>
                <a:latin typeface="微软雅黑"/>
              </a:rPr>
              <a:t>对外输送合格护理员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每输送 1 人 = 1000 元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微软雅黑"/>
              </a:rPr>
              <a:t>已成功输送 2 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5760000"/>
            <a:ext cx="10800000" cy="648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5760000"/>
            <a:ext cx="1044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微软雅黑"/>
              </a:rPr>
              <a:t>💡 关键判断：标准化、体系化的培训体系 = 可复制的护理员生产线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二、核心痛点：老带新 3 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微软雅黑"/>
              </a:rPr>
              <a:t>当前带教没有统一标准，不同老员工带教尺度差异极大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800000"/>
            <a:ext cx="10800000" cy="1260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800000"/>
            <a:ext cx="1080000" cy="1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800000"/>
            <a:ext cx="10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1908000"/>
            <a:ext cx="90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微软雅黑"/>
              </a:rPr>
              <a:t>吓跑型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340000"/>
            <a:ext cx="9000000" cy="64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微软雅黑"/>
              </a:rPr>
              <a:t>老员工把所有工作困难和负面信息提前告知新人，新人半天就吓跑了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240000"/>
            <a:ext cx="10800000" cy="1260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3240000"/>
            <a:ext cx="1080000" cy="1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3240000"/>
            <a:ext cx="10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3348000"/>
            <a:ext cx="90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微软雅黑"/>
              </a:rPr>
              <a:t>放羊型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0" y="3780000"/>
            <a:ext cx="9000000" cy="64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微软雅黑"/>
              </a:rPr>
              <a:t>老员工仅做浅层次带教，新人学不到实用技能，干到啥程度算啥程度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4680000"/>
            <a:ext cx="10800000" cy="1260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000" y="4680000"/>
            <a:ext cx="1080000" cy="1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4680000"/>
            <a:ext cx="10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0000" y="4788000"/>
            <a:ext cx="90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微软雅黑"/>
              </a:rPr>
              <a:t>混乱型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0000" y="5220000"/>
            <a:ext cx="9000000" cy="64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微软雅黑"/>
              </a:rPr>
              <a:t>老员工 24h 班休班时换人带，标准不统一，学员适应成本高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6300000"/>
            <a:ext cx="10800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6300000"/>
            <a:ext cx="10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❌ 浪费招聘投入 · 提升人员流失率 · 无法批量复制合格护理员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三、解决方案全景图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000" b="1" i="0">
                <a:solidFill>
                  <a:srgbClr val="2980B9"/>
                </a:solidFill>
                <a:latin typeface="微软雅黑"/>
              </a:rPr>
              <a:t>5 大模块闭环：从入职筛选到独立上岗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800000"/>
            <a:ext cx="2052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800000"/>
            <a:ext cx="2052000" cy="36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800000"/>
            <a:ext cx="2052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268000"/>
            <a:ext cx="2052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微软雅黑"/>
              </a:rPr>
              <a:t>三级课程体系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880000"/>
            <a:ext cx="2052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</a:rPr>
              <a:t>初 / 中 / 高 + 性格差异化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1800000"/>
            <a:ext cx="2052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00000"/>
            <a:ext cx="2052000" cy="36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1999" y="1800000"/>
            <a:ext cx="2052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2268000"/>
            <a:ext cx="2052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微软雅黑"/>
              </a:rPr>
              <a:t>培训师岗位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1999" y="2880000"/>
            <a:ext cx="2052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</a:rPr>
              <a:t>白班+24h 各 2 名，一备一用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4000" y="1800000"/>
            <a:ext cx="2052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000" y="1800000"/>
            <a:ext cx="2052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4000" y="1800000"/>
            <a:ext cx="2052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00" y="2268000"/>
            <a:ext cx="2052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微软雅黑"/>
              </a:rPr>
              <a:t>阶梯培训要求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000" y="2880000"/>
            <a:ext cx="2052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</a:rPr>
              <a:t>5 阶段考核 + 月度任务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16000" y="1800000"/>
            <a:ext cx="2052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16000" y="1800000"/>
            <a:ext cx="2052000" cy="36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6000" y="1800000"/>
            <a:ext cx="2052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6000" y="2268000"/>
            <a:ext cx="2052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微软雅黑"/>
              </a:rPr>
              <a:t>绩效挂钩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6000" y="2880000"/>
            <a:ext cx="2052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</a:rPr>
              <a:t>学员达标 → 培训师获奖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8000" y="1800000"/>
            <a:ext cx="2052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8000" y="1800000"/>
            <a:ext cx="2052000" cy="36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8000" y="1800000"/>
            <a:ext cx="2052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M5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8000" y="2268000"/>
            <a:ext cx="2052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微软雅黑"/>
              </a:rPr>
              <a:t>三日试岗机制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8000" y="2880000"/>
            <a:ext cx="2052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</a:rPr>
              <a:t>前置筛选 + 4 项标准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↓ 5 大模块形成完整闭环 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5040000"/>
            <a:ext cx="10800000" cy="1620000"/>
          </a:xfrm>
          <a:prstGeom prst="rect">
            <a:avLst/>
          </a:prstGeom>
          <a:solidFill>
            <a:srgbClr val="ECF6F2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" y="5400000"/>
            <a:ext cx="205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① 性格筛选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8000" y="5400000"/>
            <a:ext cx="205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0">
                <a:solidFill>
                  <a:srgbClr val="16A085"/>
                </a:solidFill>
                <a:latin typeface="微软雅黑"/>
              </a:rPr>
              <a:t>→ ② 三日试岗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6000" y="5400000"/>
            <a:ext cx="205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→ ③ 初级课程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3999" y="5400000"/>
            <a:ext cx="205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0">
                <a:solidFill>
                  <a:srgbClr val="16A085"/>
                </a:solidFill>
                <a:latin typeface="微软雅黑"/>
              </a:rPr>
              <a:t>→ ④ 中级+高级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2000" y="5400000"/>
            <a:ext cx="205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→ ⑤ 独立上岗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000" y="5940000"/>
            <a:ext cx="1044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  <a:latin typeface="微软雅黑"/>
              </a:rPr>
              <a:t>5 个月培养出能独立上岗、融入团队合作的合格护理员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四、三级课程体系总览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微软雅黑"/>
              </a:rPr>
              <a:t>5 个月 · 三阶段 · 阶梯式匹配内容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620000"/>
            <a:ext cx="3491999" cy="54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🟢 初级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2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1" i="0">
                <a:solidFill>
                  <a:srgbClr val="16A085"/>
                </a:solidFill>
                <a:latin typeface="微软雅黑"/>
              </a:rPr>
              <a:t>第 1 月 · 4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700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内容：观摩 + 简单操作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1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考核：观摩笔记 ≥ 20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3600000"/>
            <a:ext cx="3240000" cy="1800000"/>
          </a:xfrm>
          <a:prstGeom prst="rect">
            <a:avLst/>
          </a:prstGeom>
          <a:solidFill>
            <a:srgbClr val="EAF2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600000"/>
            <a:ext cx="3240000" cy="180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🎯 核心动作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2000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2000" y="1620000"/>
            <a:ext cx="3491999" cy="54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2000" y="16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🟡 中级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微软雅黑"/>
              </a:rPr>
              <a:t>第 2-3 月 · 8 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00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内容：半独立 + 性格适配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考核：合格率 ≥ 95%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600000"/>
            <a:ext cx="3240000" cy="1800000"/>
          </a:xfrm>
          <a:prstGeom prst="rect">
            <a:avLst/>
          </a:prstGeom>
          <a:solidFill>
            <a:srgbClr val="EAF2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600000"/>
            <a:ext cx="3240000" cy="180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  ✓ 半独立操作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3999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3999" y="1620000"/>
            <a:ext cx="3491999" cy="5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3999" y="16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🔴 高级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999" y="22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第 4-5 月 · 8 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999" y="2700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内容：独立照护 + 团队协作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999" y="3168000"/>
            <a:ext cx="32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微软雅黑"/>
              </a:rPr>
              <a:t>考核：产能 1/3 →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3999" y="3600000"/>
            <a:ext cx="3240000" cy="1800000"/>
          </a:xfrm>
          <a:prstGeom prst="rect">
            <a:avLst/>
          </a:prstGeom>
          <a:solidFill>
            <a:srgbClr val="EAF2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3999" y="3600000"/>
            <a:ext cx="3240000" cy="180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  ✓ 团队协作演练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5760000"/>
            <a:ext cx="10800000" cy="648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5760000"/>
            <a:ext cx="1044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💡 心法：阶梯式匹配内容 = 把'失败成本'降到最低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五、初级课程（第 1 月 · 4 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16A085"/>
                </a:solidFill>
                <a:latin typeface="微软雅黑"/>
              </a:rPr>
              <a:t>🟢 观摩 + 简单操作 · 不要求产量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10800000" cy="36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620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周次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1620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1620000"/>
            <a:ext cx="68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培训内容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1980000"/>
            <a:ext cx="10800000" cy="12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1980000"/>
            <a:ext cx="144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2088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微软雅黑"/>
              </a:rPr>
              <a:t>观摩期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2052000"/>
            <a:ext cx="6840000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• 院规与文化介绍
• 24h 班全程观摩
• 白班全程观摩
• 老人接触观察
• 试岗合格评估（接受二便/喂饭/男老人）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3348000"/>
            <a:ext cx="108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3348000"/>
            <a:ext cx="144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3456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微软雅黑"/>
              </a:rPr>
              <a:t>简单操作期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3420000"/>
            <a:ext cx="6840000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• 洗脸顺序：先额→眼→嘴→鼻→耳
• 喂水：40℃温水、摇床头30°、嘴角喂
• 简单卫生：擦小桌、整理床铺
• 翻身协助：2 人配合、轴线翻身
• 喂饭协助：摇床头、侧头、小勺喂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4716000"/>
            <a:ext cx="10800000" cy="12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4716000"/>
            <a:ext cx="144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Week 3-4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00" y="4824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微软雅黑"/>
              </a:rPr>
              <a:t>渐进上手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4788000"/>
            <a:ext cx="6840000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• 继续 Week 2 模块
• 逐步增加操作量
• 不允许独立高难度任务
• 心理状态跟踪
• 逐步融入团队成员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六、中级课程（第 2-3 月）+ 性格差异化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  <a:latin typeface="微软雅黑"/>
              </a:rPr>
              <a:t>🟡 半独立 + 性格适配 · 合格率 ≥ 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440000"/>
            <a:ext cx="10800000" cy="28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999" y="1440000"/>
            <a:ext cx="1044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通用模块（所有员工必学）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1728000"/>
            <a:ext cx="10800000" cy="540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1728000"/>
            <a:ext cx="1062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✓ 三查八对    ✓ 喂药操作（核对姓名/剂量/时间）    ✓ 床上洗澡    ✓ 抱轮椅转移    ✓ 老人异常识别（摔伤、呛咳、晕厥）    ✓ 阿尔茨海默症情绪管理    ✓ 家属沟通基础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448000"/>
            <a:ext cx="54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2448000"/>
            <a:ext cx="540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466000"/>
            <a:ext cx="52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性格 A：粗心大意型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808000"/>
            <a:ext cx="5220000" cy="190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0392B"/>
                </a:solidFill>
                <a:latin typeface="微软雅黑"/>
              </a:rPr>
              <a:t>问题：易漏项、操作不规范、急救慌乱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三查八对魔鬼训练（每日复盘 5 错）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操作规范标准化视频（每动作录 5 遍）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床头卡每日背诵（饮食禁忌/过敏史）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应急预案桌面推演（每周 1 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448000"/>
            <a:ext cx="81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448000"/>
            <a:ext cx="810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2466000"/>
            <a:ext cx="79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性格 B：细心但慢型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2808000"/>
            <a:ext cx="7920000" cy="190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6A085"/>
                </a:solidFill>
                <a:latin typeface="微软雅黑"/>
              </a:rPr>
              <a:t>问题：速度慢、不敢决断、沟通弱、抗压弱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效率提升训练（计时操作对标）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判断力授权训练（独立判断场景演练）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家属沟通话术库（高频 20 场景）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微软雅黑"/>
              </a:rPr>
              <a:t>• 高强度时段适应性训练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6120000"/>
            <a:ext cx="10800000" cy="54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6120000"/>
            <a:ext cx="1044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💡 员工已定性 → 培训模块必须贴合性格，不能强行改变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七、高级课程（第 4-5 月 · 独立上岗）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微软雅黑"/>
              </a:rPr>
              <a:t>🔴 独立照护 + 团队协作 · 产能对标 1/3 → 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5400000" cy="252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260000"/>
            <a:ext cx="540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278000"/>
            <a:ext cx="522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第 4 月 · 独立初期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620000"/>
            <a:ext cx="5220000" cy="208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独立负责 1-2 位老人全流程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0392B"/>
                </a:solidFill>
                <a:latin typeface="微软雅黑"/>
              </a:rPr>
              <a:t>产能对标老员工的 1/3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6A085"/>
                </a:solidFill>
                <a:latin typeface="微软雅黑"/>
              </a:rPr>
              <a:t>• 超 1/3 → 超产奖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6A085"/>
                </a:solidFill>
                <a:latin typeface="微软雅黑"/>
              </a:rPr>
              <a:t>• 主管抽检合格率 100% → 质量合格奖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260000"/>
            <a:ext cx="7920000" cy="252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1260000"/>
            <a:ext cx="792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1278000"/>
            <a:ext cx="77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第 5 月 · 独立成熟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1620000"/>
            <a:ext cx="7740000" cy="2088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独立负责 3-4 位老人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0392B"/>
                </a:solidFill>
                <a:latin typeface="微软雅黑"/>
              </a:rPr>
              <a:t>产能对标老员工的 50%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6A085"/>
                </a:solidFill>
                <a:latin typeface="微软雅黑"/>
              </a:rPr>
              <a:t>• 超 50% → 超产奖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6A085"/>
                </a:solidFill>
                <a:latin typeface="微软雅黑"/>
              </a:rPr>
              <a:t>• 100% 合格 → 质量合格奖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6A085"/>
                </a:solidFill>
                <a:latin typeface="微软雅黑"/>
              </a:rPr>
              <a:t>• 团队协作演练（互助三色独立执行）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1260000"/>
            <a:ext cx="5400000" cy="4680000"/>
          </a:xfrm>
          <a:prstGeom prst="rect">
            <a:avLst/>
          </a:prstGeom>
          <a:solidFill>
            <a:srgbClr val="ECF6F2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8000" y="1260000"/>
            <a:ext cx="52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600" b="1" i="0">
                <a:solidFill>
                  <a:srgbClr val="16A085"/>
                </a:solidFill>
                <a:latin typeface="微软雅黑"/>
              </a:rPr>
              <a:t>5 个月培养节奏总览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8000" y="1800000"/>
            <a:ext cx="900000" cy="64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8000" y="1800000"/>
            <a:ext cx="90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第 1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0" y="1800000"/>
            <a:ext cx="1980000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微软雅黑"/>
              </a:rPr>
              <a:t>🟢 观摩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2124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不要求产量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0000" y="1800000"/>
            <a:ext cx="198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000" y="2628000"/>
            <a:ext cx="900000" cy="64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8000" y="2628000"/>
            <a:ext cx="90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第 2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0" y="2628000"/>
            <a:ext cx="1980000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微软雅黑"/>
              </a:rPr>
              <a:t>🟡 半独立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0" y="2952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合格率 ≥ 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0" y="2628000"/>
            <a:ext cx="198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8000" y="3456000"/>
            <a:ext cx="900000" cy="64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8000" y="3456000"/>
            <a:ext cx="90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第 3 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3456000"/>
            <a:ext cx="1980000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微软雅黑"/>
              </a:rPr>
              <a:t>🟡 半独立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0" y="3780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合格率 ≥ 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0000" y="3456000"/>
            <a:ext cx="198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8000" y="4283999"/>
            <a:ext cx="900000" cy="64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8000" y="4283999"/>
            <a:ext cx="90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第 4 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0" y="4283999"/>
            <a:ext cx="1980000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微软雅黑"/>
              </a:rPr>
              <a:t>🔴 独立初期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0" y="4607999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产能 1/3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0000" y="4283999"/>
            <a:ext cx="198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8000" y="5112000"/>
            <a:ext cx="900000" cy="64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8000" y="5112000"/>
            <a:ext cx="90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第 5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0" y="5112000"/>
            <a:ext cx="1980000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微软雅黑"/>
              </a:rPr>
              <a:t>🔴 独立成熟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0" y="5436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产能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0000" y="5112000"/>
            <a:ext cx="1980000" cy="64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微软雅黑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八、培训师岗位设置（一备一用）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白班 + 24h 班各 2 名 · 主备轮换 · 学员不换人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10800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620000"/>
            <a:ext cx="14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岗位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1620000"/>
            <a:ext cx="216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主培训师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1620000"/>
            <a:ext cx="288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备培训师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0" y="1620000"/>
            <a:ext cx="43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学员分配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2052000"/>
            <a:ext cx="1080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052000"/>
            <a:ext cx="144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  <a:latin typeface="微软雅黑"/>
              </a:rPr>
              <a:t>白班岗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2052000"/>
            <a:ext cx="216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1 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2052000"/>
            <a:ext cx="288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1 名（一备一用）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2052000"/>
            <a:ext cx="43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白班岗新员工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2592000"/>
            <a:ext cx="108000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2592000"/>
            <a:ext cx="144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  <a:latin typeface="微软雅黑"/>
              </a:rPr>
              <a:t>24h 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0" y="2592000"/>
            <a:ext cx="216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1 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0" y="2592000"/>
            <a:ext cx="288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1 名（一备一用）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92000"/>
            <a:ext cx="43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24h 班新员工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3420000"/>
            <a:ext cx="1080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99" y="3420000"/>
            <a:ext cx="1044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一备一用机制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3780000"/>
            <a:ext cx="252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780000"/>
            <a:ext cx="25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主培训师在岗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0000" y="3780000"/>
            <a:ext cx="828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8000" y="3780000"/>
            <a:ext cx="810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学员全程跟随主培训师，不得中途换人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4320000"/>
            <a:ext cx="252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" y="4320000"/>
            <a:ext cx="25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主培训师休班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0" y="4320000"/>
            <a:ext cx="828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0" y="4320000"/>
            <a:ext cx="810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学员临时跟备培训师，必须当天向院长报备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4860000"/>
            <a:ext cx="252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4860000"/>
            <a:ext cx="25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缺勤 &gt; 3 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0000" y="4860000"/>
            <a:ext cx="828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0" y="4860000"/>
            <a:ext cx="810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院长启动主备切换，原培训师恢复后不再接回该学员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000" y="5400000"/>
            <a:ext cx="252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5400000"/>
            <a:ext cx="252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微软雅黑"/>
              </a:rPr>
              <a:t>年度轮换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0000" y="5400000"/>
            <a:ext cx="828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0" y="5400000"/>
            <a:ext cx="8100000" cy="503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每年 1 月、7 月主备轮换一次，避免固化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000" y="6120000"/>
            <a:ext cx="10800000" cy="54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99" y="6120000"/>
            <a:ext cx="1062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/>
              </a:rPr>
              <a:t>❌ 禁止：灌输负面 / 浅层次带教 / 擅自换学员 / 学员面前抱怨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九、培训师资格 + 技能要求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微软雅黑"/>
              </a:rPr>
              <a:t>5 项硬性资格 + 5 大必备技能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440000"/>
            <a:ext cx="5040000" cy="28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440000"/>
            <a:ext cx="504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5 项硬性资格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1800000"/>
            <a:ext cx="504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1836000"/>
            <a:ext cx="5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  <a:latin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1836000"/>
            <a:ext cx="1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在院工龄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0" y="1836000"/>
            <a:ext cx="23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微软雅黑"/>
              </a:rPr>
              <a:t>≥ 2 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376000"/>
            <a:ext cx="504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999" y="2412000"/>
            <a:ext cx="5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412000"/>
            <a:ext cx="1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历史评价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2412000"/>
            <a:ext cx="23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微软雅黑"/>
              </a:rPr>
              <a:t>三方综合 ≥ 4/5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2951999"/>
            <a:ext cx="504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999" y="2987999"/>
            <a:ext cx="5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  <a:latin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2987999"/>
            <a:ext cx="1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操作考核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000" y="2987999"/>
            <a:ext cx="23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微软雅黑"/>
              </a:rPr>
              <a:t>中级以上 ≥ 90 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3528000"/>
            <a:ext cx="504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3564000"/>
            <a:ext cx="5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  <a:latin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3564000"/>
            <a:ext cx="1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带教意愿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3564000"/>
            <a:ext cx="23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微软雅黑"/>
              </a:rPr>
              <a:t>自愿申请 + 签承诺书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4104000"/>
            <a:ext cx="5040000" cy="503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4140000"/>
            <a:ext cx="5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  <a:latin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0000" y="4140000"/>
            <a:ext cx="1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性格评估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0" y="4140000"/>
            <a:ext cx="234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微软雅黑"/>
              </a:rPr>
              <a:t>耐心+表达+抗压 三项达标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1440000"/>
            <a:ext cx="540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0" y="1440000"/>
            <a:ext cx="540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5 大必备技能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1800000"/>
            <a:ext cx="540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8000" y="1836000"/>
            <a:ext cx="180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老人照护技能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0000" y="1836000"/>
            <a:ext cx="3348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翻身、喂饭、洗澡、喂药、三查八对全精通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2376000"/>
            <a:ext cx="540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8000" y="2412000"/>
            <a:ext cx="180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应急处理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0000" y="2412000"/>
            <a:ext cx="3348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呛咳、摔伤、晕厥、阿尔茨海默情绪独立处理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0000" y="2951999"/>
            <a:ext cx="540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8000" y="2987999"/>
            <a:ext cx="180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沟通能力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0000" y="2987999"/>
            <a:ext cx="3348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清晰示范 + 解释动作原理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0000" y="3528000"/>
            <a:ext cx="540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8000" y="3564000"/>
            <a:ext cx="180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团队协作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0000" y="3564000"/>
            <a:ext cx="3348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理解团队合作补位 + 讲清楚边界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0000" y="4104000"/>
            <a:ext cx="5400000" cy="503999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8000" y="4140000"/>
            <a:ext cx="180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SOP 编写能力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0000" y="4140000"/>
            <a:ext cx="3348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经验→标准的提炼输出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4860000"/>
            <a:ext cx="10800000" cy="180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999" y="4932000"/>
            <a:ext cx="10440000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资格审核流程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999" y="5400000"/>
            <a:ext cx="10440000" cy="10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微软雅黑"/>
              </a:rPr>
              <a:t>① 自愿报名  →  ② 资格审核  →  ③ 试讲（5 分钟讲解一项操作）  →  ④ 院长签字任命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十、阶梯培训模型（5 阶段）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5 个月 · 阶梯式匹配学员状态 + 培训师任务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10800000" cy="36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620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1620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月份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620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学员状态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620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培训师任务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0" y="1620000"/>
            <a:ext cx="43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考核指标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980000"/>
            <a:ext cx="10800000" cy="576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00" y="1980000"/>
            <a:ext cx="1080000" cy="576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980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第一阶段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1980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第 1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980000"/>
            <a:ext cx="144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观摩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1980000"/>
            <a:ext cx="28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全程示范 + 答疑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2628000"/>
            <a:ext cx="10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000" y="2628000"/>
            <a:ext cx="1080000" cy="57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2628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第二阶段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2628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第 2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2628000"/>
            <a:ext cx="144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协助操作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0" y="2628000"/>
            <a:ext cx="28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手把手 + 即时纠正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3276000"/>
            <a:ext cx="10800000" cy="576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00" y="3276000"/>
            <a:ext cx="1080000" cy="57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3276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第三阶段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0" y="3276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第 3 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000" y="3276000"/>
            <a:ext cx="144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半独立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0" y="3276000"/>
            <a:ext cx="28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监督 + 关键确认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3924000"/>
            <a:ext cx="10800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0000" y="3924000"/>
            <a:ext cx="1080000" cy="57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3924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第四阶段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0000" y="3924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第 4 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000" y="3924000"/>
            <a:ext cx="144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独立初期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0" y="3924000"/>
            <a:ext cx="28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巡检 + 答疑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" y="4572000"/>
            <a:ext cx="10800000" cy="576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0000" y="4572000"/>
            <a:ext cx="1080000" cy="57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" y="4572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第五阶段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0000" y="4572000"/>
            <a:ext cx="10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第 5 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000" y="4572000"/>
            <a:ext cx="144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独立成熟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0000" y="4572000"/>
            <a:ext cx="2880000" cy="57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微软雅黑"/>
              </a:rPr>
              <a:t>抽查 + 互带萌芽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00" y="5400000"/>
            <a:ext cx="1080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000" y="5400000"/>
            <a:ext cx="1080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培训师月度任务清单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000" y="5760000"/>
            <a:ext cx="104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✓ 填写《阶梯培训考核表》对应阶段评分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000" y="6012000"/>
            <a:ext cx="104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✓ 输出 ≥ 3 条带教经验沉淀（提交 SOP 小组）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00" y="6263999"/>
            <a:ext cx="104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✓ 与学员进行 ≥ 2 次 1v1 谈话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000" y="6516000"/>
            <a:ext cx="104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✓ 向院长口头汇报学员情况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十一、绩效挂钩 + 奖金规则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学员达标 → 培训师获奖 · 月度绩效系数上浮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440000"/>
            <a:ext cx="540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440000"/>
            <a:ext cx="540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学员达标 → 培训师奖金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1800000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1836000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第一阶段通过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1836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100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2304000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99" y="2340000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第二阶段通过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340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150 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808000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999" y="2844000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第三阶段通过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2844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200 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3311999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3347999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第四阶段通过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3347999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300 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3816000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3852000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第五阶段通过（独立上岗）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0" y="3852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500 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4320000"/>
            <a:ext cx="540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999" y="4356000"/>
            <a:ext cx="36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学员 6 个月稳定在岗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0" y="4356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500 元（留存奖）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0" y="1440000"/>
            <a:ext cx="504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0" y="1440000"/>
            <a:ext cx="504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培训师月度绩效系数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0000" y="1800000"/>
            <a:ext cx="5040000" cy="432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8000" y="1836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0 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0000" y="1836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微软雅黑"/>
              </a:rPr>
              <a:t>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0000" y="1836000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基础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0" y="2304000"/>
            <a:ext cx="504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8000" y="2340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1 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0000" y="2340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微软雅黑"/>
              </a:rPr>
              <a:t>1.1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0000" y="2340000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+10%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0" y="2808000"/>
            <a:ext cx="5040000" cy="432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8000" y="2844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2 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0000" y="2844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微软雅黑"/>
              </a:rPr>
              <a:t>1.2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0000" y="2844000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+20%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0" y="3311999"/>
            <a:ext cx="504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8000" y="3347999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3 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0000" y="3347999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微软雅黑"/>
              </a:rPr>
              <a:t>1.3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0000" y="3347999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+30%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80000" y="3816000"/>
            <a:ext cx="5040000" cy="432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8000" y="3852000"/>
            <a:ext cx="14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4 人及以上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0000" y="3852000"/>
            <a:ext cx="10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微软雅黑"/>
              </a:rPr>
              <a:t>1.5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0000" y="3852000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上限 +50%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5040000"/>
            <a:ext cx="10800000" cy="72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999" y="5040000"/>
            <a:ext cx="1062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💡 一名学员独立上岗：培训师累计奖金 = 100+150+200+300+500+500留存 = 1750 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999" y="5400000"/>
            <a:ext cx="10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微软雅黑"/>
              </a:rPr>
              <a:t>    要奖励的多一点，惩罚的少一点，以激励为主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0000" y="5940000"/>
            <a:ext cx="10800000" cy="720000"/>
          </a:xfrm>
          <a:prstGeom prst="rect">
            <a:avLst/>
          </a:prstGeom>
          <a:solidFill>
            <a:srgbClr val="ECF6F2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999" y="5940000"/>
            <a:ext cx="10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  <a:latin typeface="微软雅黑"/>
              </a:rPr>
              <a:t>✓ 学员达标 → 奖金 + 系数上浮     ✓ 学员留存 → 留存奖 + 月度明星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999" y="6300000"/>
            <a:ext cx="10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✓ 学员淘汰 → 不带负面惩罚（避免不敢带严）     ✗ 培训师违规 → 取消资格 + 扣 500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十二、培训师晋升通道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普通培训师 → 高级培训师 → 培训主管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440000"/>
            <a:ext cx="1080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440000"/>
            <a:ext cx="2880000" cy="126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440000"/>
            <a:ext cx="28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普通培训师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1548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晋升条件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1836000"/>
            <a:ext cx="288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资格审核通过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1548000"/>
            <a:ext cx="45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对应待遇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1836000"/>
            <a:ext cx="450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基础 + 奖金 + 系数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880000"/>
            <a:ext cx="1080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2880000"/>
            <a:ext cx="2880000" cy="126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2880000"/>
            <a:ext cx="28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高级培训师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0000" y="2988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晋升条件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3276000"/>
            <a:ext cx="288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带教 ≥ 3 名学员达标 + ≥ 5 条 SOP 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0" y="2988000"/>
            <a:ext cx="45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对应待遇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0" y="3276000"/>
            <a:ext cx="450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微软雅黑"/>
              </a:rPr>
              <a:t>培训津贴 + 500 元/月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4320000"/>
            <a:ext cx="1080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000" y="4320000"/>
            <a:ext cx="2880000" cy="1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4320000"/>
            <a:ext cx="2880000" cy="12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培训主管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0000" y="4428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晋升条件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0" y="4716000"/>
            <a:ext cx="288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/>
              </a:rPr>
              <a:t>高级 ≥ 1 年 + 院长评估通过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0" y="4428000"/>
            <a:ext cx="45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对应待遇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0" y="4716000"/>
            <a:ext cx="450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/>
              </a:rPr>
              <a:t>主管岗工资 + 培训津贴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5940000"/>
            <a:ext cx="1080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600" b="1" i="0">
                <a:solidFill>
                  <a:srgbClr val="2980B9"/>
                </a:solidFill>
                <a:latin typeface="微软雅黑"/>
              </a:rPr>
              <a:t>↓ 通道打开，鼓励培训师持续成长 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十三、新护理员 4 项核心筛选标准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前置性格筛选 · 入职即测 · 避免 1-2 周培养后才发现不适合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522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620000"/>
            <a:ext cx="5220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00" y="1656000"/>
            <a:ext cx="5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1656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爱心 + 耐心 + 责任心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656000"/>
            <a:ext cx="1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三项必达，缺一不可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2160000"/>
            <a:ext cx="4860000" cy="16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对老人发自内心的关爱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面对反复沟通情绪稳定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工作失误主动补救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620000"/>
            <a:ext cx="522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620000"/>
            <a:ext cx="5220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8000" y="1656000"/>
            <a:ext cx="5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0" y="1656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手脚麻利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0000" y="1656000"/>
            <a:ext cx="1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操作速度 + 反应灵敏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2160000"/>
            <a:ext cx="4860000" cy="16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30 分钟内完成 5 项基础操作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突发呼叫 30 秒内到达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4140000"/>
            <a:ext cx="522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000" y="4140000"/>
            <a:ext cx="5220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00" y="4176000"/>
            <a:ext cx="5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76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记忆力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0" y="4176000"/>
            <a:ext cx="1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特殊照护要求准确记忆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4680000"/>
            <a:ext cx="4860000" cy="16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10 位老人姓名+饮食禁忌+过敏史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5 分钟后复述 ≥ 8/10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4140000"/>
            <a:ext cx="522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4140000"/>
            <a:ext cx="5220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8000" y="4176000"/>
            <a:ext cx="54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#4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0000" y="4176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团队合作意识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0000" y="4176000"/>
            <a:ext cx="162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不斤斤计较 + 情绪管理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0" y="4680000"/>
            <a:ext cx="4860000" cy="16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理解团队合作补位模式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• 面对消极老人不计较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6480000"/>
            <a:ext cx="10800000" cy="251999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999" y="6480000"/>
            <a:ext cx="10440000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微软雅黑"/>
              </a:rPr>
              <a:t>💡 满分 150 分 · 合格线 120 分 · 不合格直接淘汰或转对外输送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十四、三日试岗机制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Day 1-3 流程 · 培训师监督但不替代操作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620000"/>
            <a:ext cx="3491999" cy="64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56000"/>
            <a:ext cx="3491999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80000"/>
            <a:ext cx="3491999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🟠 观摩日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" y="2340000"/>
            <a:ext cx="3311999" cy="28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200" b="0" i="1">
                <a:solidFill>
                  <a:srgbClr val="E67E22"/>
                </a:solidFill>
                <a:latin typeface="微软雅黑"/>
              </a:rPr>
              <a:t>阶段：无操作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2700000"/>
            <a:ext cx="3311999" cy="25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上午：跟随 24h 班培训师观摩完整工作流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下午：跟随白班培训师观摩卫生、消毒流程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晚间：心理自评（二便/喂饭/男老人）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✓ 当日评估：通过 / 不通过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2000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2000" y="1620000"/>
            <a:ext cx="3491999" cy="64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1656000"/>
            <a:ext cx="3491999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2000" y="1980000"/>
            <a:ext cx="3491999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🔵 简单操作日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2340000"/>
            <a:ext cx="3311999" cy="28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200" b="0" i="1">
                <a:solidFill>
                  <a:srgbClr val="2980B9"/>
                </a:solidFill>
                <a:latin typeface="微软雅黑"/>
              </a:rPr>
              <a:t>阶段：培训师全程在场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00000"/>
            <a:ext cx="3311999" cy="25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洗脸顺序：先额→眼→嘴→鼻→耳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喂水：40℃ 温水、摇床头 30°、嘴角喂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喂饭协助：摇床头、侧头、小勺喂、防呛咳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✓ 不允许独立操作任何项目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3999" y="1620000"/>
            <a:ext cx="3491999" cy="3960000"/>
          </a:xfrm>
          <a:prstGeom prst="rect">
            <a:avLst/>
          </a:prstGeom>
          <a:solidFill>
            <a:srgbClr val="FFFFFF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3999" y="1620000"/>
            <a:ext cx="3491999" cy="64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3999" y="1656000"/>
            <a:ext cx="3491999" cy="324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Day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3999" y="1980000"/>
            <a:ext cx="3491999" cy="251999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🟣 24h 全流程体验日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1999" y="2340000"/>
            <a:ext cx="3311999" cy="28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200" b="0" i="1">
                <a:solidFill>
                  <a:srgbClr val="16A085"/>
                </a:solidFill>
                <a:latin typeface="微软雅黑"/>
              </a:rPr>
              <a:t>阶段：完整 24h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999" y="2700000"/>
            <a:ext cx="3311999" cy="2520000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08:00 起床、洗漱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12:00 午餐喂饭 + 喂药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14:00 午休巡查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20:00-06:00 每 2 小时翻身扣背打卡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✓ 培训师监督但不替代操作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5760000"/>
            <a:ext cx="10800000" cy="90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5796000"/>
            <a:ext cx="10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💡 试岗薪资：前 3 天无薪资（双方双向选择期）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6228000"/>
            <a:ext cx="10620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✓ 通过试岗 → 从入职第一天起核算全额基本工资     ✗ 未通过 → 第二天起随时可离职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08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/>
              </a:rPr>
              <a:t>十五、合格判定 + 数据化验证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119" y="72000"/>
            <a:ext cx="1620000" cy="396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/>
              </a:rPr>
              <a:t>养老院培训体系 V01 ·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642000"/>
            <a:ext cx="720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微软雅黑"/>
              </a:rPr>
              <a:t>养老院新员工培训体系 · 阶梯型培养 + 标准化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119" y="6642000"/>
            <a:ext cx="1440000" cy="18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P 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  <a:latin typeface="微软雅黑"/>
              </a:rPr>
              <a:t>试岗合格 4 维标准 · 制度有效性数据化验证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440000"/>
            <a:ext cx="5040000" cy="28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440000"/>
            <a:ext cx="504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试岗合格判定（4 维度）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1800000"/>
            <a:ext cx="504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1836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心理接受度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836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二便/喂饭/男老人三项全接受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2304000"/>
            <a:ext cx="504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99" y="2340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操作规范度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2340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三日操作无违规（培训师记录）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808000"/>
            <a:ext cx="504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999" y="2844000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培训师评价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844000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≥ 4 /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3311999"/>
            <a:ext cx="5040000" cy="43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3347999"/>
            <a:ext cx="180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  <a:latin typeface="微软雅黑"/>
              </a:rPr>
              <a:t>主管评价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3347999"/>
            <a:ext cx="2880000" cy="36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≥ 4 /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1440000"/>
            <a:ext cx="5400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1440000"/>
            <a:ext cx="540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制度有效性验证指标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1800000"/>
            <a:ext cx="5400000" cy="3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8000" y="1836000"/>
            <a:ext cx="306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试岗通过率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0000" y="1836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≥ 70%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2214000"/>
            <a:ext cx="5400000" cy="3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8000" y="2250000"/>
            <a:ext cx="306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5 个月独立上岗率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0000" y="2250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≥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2628000"/>
            <a:ext cx="5400000" cy="3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8000" y="2664000"/>
            <a:ext cx="306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6 个月留存率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0000" y="2664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≥ 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3041999"/>
            <a:ext cx="5400000" cy="3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8000" y="3077999"/>
            <a:ext cx="306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培训师人均带教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0000" y="3077999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≥ 1.5 人/月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0" y="3456000"/>
            <a:ext cx="5400000" cy="360000"/>
          </a:xfrm>
          <a:prstGeom prst="rect">
            <a:avLst/>
          </a:prstGeom>
          <a:solidFill>
            <a:srgbClr val="EC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8000" y="3492000"/>
            <a:ext cx="306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SOP 输出数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0000" y="3492000"/>
            <a:ext cx="198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微软雅黑"/>
              </a:rPr>
              <a:t>≥ 5 条/月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000" y="3960000"/>
            <a:ext cx="10800000" cy="28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" y="3960000"/>
            <a:ext cx="10800000" cy="28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制度迭代节奏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000" y="4428000"/>
            <a:ext cx="1332000" cy="432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试行 1 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40000" y="4428000"/>
            <a:ext cx="1332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80000" y="4428000"/>
            <a:ext cx="1332000" cy="432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V02 修订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0000" y="4428000"/>
            <a:ext cx="1332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60000" y="4428000"/>
            <a:ext cx="1332000" cy="432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6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再试行 1 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0000" y="4428000"/>
            <a:ext cx="1332000" cy="432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40000" y="4428000"/>
            <a:ext cx="1332000" cy="432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0000" y="4428000"/>
            <a:ext cx="1332000" cy="432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V03 定稿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5220000"/>
            <a:ext cx="10800000" cy="1440000"/>
          </a:xfrm>
          <a:prstGeom prst="rect">
            <a:avLst/>
          </a:prstGeom>
          <a:solidFill>
            <a:srgbClr val="FFF8E1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999" y="5292000"/>
            <a:ext cx="10620000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💡 核心判断标准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999" y="5760000"/>
            <a:ext cx="10620000" cy="90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制度是否有效，不是员工说，也不是院长说，是要看数据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999" y="5940000"/>
            <a:ext cx="10620000" cy="72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  • 之前每天听到 5-6 次员工互助推诿 → 落地后一周仅 5-6 次 = 制度有效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999" y="6300000"/>
            <a:ext cx="1062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/>
              </a:rPr>
              <a:t>  • 推行后矛盾不减反增 = 制度无效，必须立即调整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58000"/>
            <a:ext cx="12192119" cy="90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80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</a:rPr>
              <a:t>总结：5 个月打造可复制的护理员生产线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3491999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908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微软雅黑"/>
              </a:rPr>
              <a:t>三级课程体系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初/中/高 + 性格差异化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0" y="1800000"/>
            <a:ext cx="3491999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2000" y="1908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微软雅黑"/>
              </a:rPr>
              <a:t>培训师机制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5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一备一用 + 阶梯 + 奖金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3999" y="1800000"/>
            <a:ext cx="3491999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3999" y="1908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微软雅黑"/>
              </a:rPr>
              <a:t>筛选 + 试岗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3999" y="2520000"/>
            <a:ext cx="3491999" cy="54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</a:rPr>
              <a:t>4 项标准 + 3 日流程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/>
              </a:rPr>
              <a:t>💡 不要靠感觉，不要靠个人经验，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140000"/>
            <a:ext cx="10800000" cy="720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/>
              </a:rPr>
              <a:t>要靠体系化的 SOP 让协作稳定运转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编制：刘院长 · 大盛代笔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688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编制日期：2026 年 8 月 21 日  ·  版本：V01  ·  生效：即日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