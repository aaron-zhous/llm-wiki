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029200"/>
            <a:ext cx="4572000" cy="4572000"/>
          </a:xfrm>
          <a:prstGeom prst="ellipse">
            <a:avLst/>
          </a:prstGeom>
          <a:solidFill>
            <a:srgbClr val="2C5F2D">
              <a:alpha val="30000"/>
            </a:srgbClr>
          </a:solidFill>
          <a:ln w="12700">
            <a:solidFill>
              <a:srgbClr val="2C5F2D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FFC832">
              <a:alpha val="20000"/>
            </a:srgbClr>
          </a:solidFill>
          <a:ln w="12700">
            <a:solidFill>
              <a:srgbClr val="FFC832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公众号写作全流程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 × 素材 × 结构 × 排版 × 钩子 × 福利包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0" y="3383280"/>
            <a:ext cx="210312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讲师：周盛 · 视频号「周盛说」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一人公司第 X 天  ·  学员训练营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姜胡说方法论  ×  胡子哥社群实战  ×  琪萌教练案例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做公众号之前，先对 4 件事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撞墙了再补，代价很大。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📝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不知道写啥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45920" y="4069080"/>
            <a:ext cx="548640" cy="365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2062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选题枯竭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不知道读者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想看什么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0" y="173736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💔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3474720" y="3383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写了没人看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0" y="4069080"/>
            <a:ext cx="548640" cy="36576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42062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辛苦写了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阅读个位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73736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🧱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400800" y="3383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写不动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98080" y="4069080"/>
            <a:ext cx="548640" cy="36576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42062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每次都从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零开始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没有方法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326880" y="173736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20116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🔁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9326880" y="3383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写得好但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变现差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24160" y="4069080"/>
            <a:ext cx="548640" cy="36576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9760" y="420624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有阅读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没粉丝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没转化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今天讲透 6 件事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0 到一篇 3000 字引流文 + 福利包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定位选题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找到读者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920240" y="4069080"/>
            <a:ext cx="91440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 + 钩子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选题库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3840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</a:rPr>
              <a:t>→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48056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素材整合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48056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三合一配比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52160" y="4069080"/>
            <a:ext cx="9144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+ 笔记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撞墙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3840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</a:rPr>
              <a:t>→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841248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841248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写作结构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4124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段骨架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784080" y="4069080"/>
            <a:ext cx="9144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 + 主体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收尾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1828800"/>
            <a:ext cx="3657600" cy="0"/>
          </a:xfrm>
          <a:prstGeom prst="roundRect">
            <a:avLst>
              <a:gd name="adj" fmla="val Infinity"/>
            </a:avLst>
          </a:prstGeom>
          <a:solidFill>
            <a:srgbClr val="24302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1828800"/>
            <a:ext cx="3657600" cy="0"/>
          </a:xfrm>
          <a:prstGeom prst="roundRect">
            <a:avLst>
              <a:gd name="adj" fmla="val Infinity"/>
            </a:avLst>
          </a:prstGeom>
          <a:solidFill>
            <a:srgbClr val="24302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0" y="1828800"/>
            <a:ext cx="3657600" cy="0"/>
          </a:xfrm>
          <a:prstGeom prst="roundRect">
            <a:avLst>
              <a:gd name="adj" fmla="val Infinity"/>
            </a:avLst>
          </a:prstGeom>
          <a:solidFill>
            <a:srgbClr val="243029"/>
          </a:solidFill>
          <a:ln w="12700">
            <a:solidFill>
              <a:srgbClr val="5B8D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1828800"/>
            <a:ext cx="0" cy="0"/>
          </a:xfrm>
          <a:prstGeom prst="roundRect">
            <a:avLst/>
          </a:prstGeom>
          <a:solidFill>
            <a:srgbClr val="24302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1828800"/>
            <a:ext cx="0" cy="0"/>
          </a:xfrm>
          <a:prstGeom prst="roundRect">
            <a:avLst/>
          </a:prstGeom>
          <a:solidFill>
            <a:srgbClr val="243029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1828800"/>
            <a:ext cx="0" cy="0"/>
          </a:xfrm>
          <a:prstGeom prst="roundRect">
            <a:avLst/>
          </a:prstGeom>
          <a:solidFill>
            <a:srgbClr val="243029"/>
          </a:solidFill>
          <a:ln w="12700">
            <a:solidFill>
              <a:srgbClr val="5B8DB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1828800"/>
            <a:ext cx="3657600" cy="4206240"/>
          </a:xfrm>
          <a:prstGeom prst="rect">
            <a:avLst/>
          </a:prstGeom>
          <a:solidFill>
            <a:srgbClr val="1A2419"/>
          </a:solidFill>
          <a:ln w="12700">
            <a:solidFill>
              <a:srgbClr val="1A241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1828800"/>
            <a:ext cx="3657600" cy="4206240"/>
          </a:xfrm>
          <a:prstGeom prst="rect">
            <a:avLst/>
          </a:prstGeom>
          <a:solidFill>
            <a:srgbClr val="1A2419"/>
          </a:solidFill>
          <a:ln w="12700">
            <a:solidFill>
              <a:srgbClr val="1A241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1828800"/>
            <a:ext cx="3657600" cy="4206240"/>
          </a:xfrm>
          <a:prstGeom prst="rect">
            <a:avLst/>
          </a:prstGeom>
          <a:solidFill>
            <a:srgbClr val="1A2419"/>
          </a:solidFill>
          <a:ln w="12700">
            <a:solidFill>
              <a:srgbClr val="1A241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5600" dirty="0"/>
          </a:p>
        </p:txBody>
      </p:sp>
      <p:sp>
        <p:nvSpPr>
          <p:cNvPr id="37" name="Text 35"/>
          <p:cNvSpPr/>
          <p:nvPr/>
        </p:nvSpPr>
        <p:spPr>
          <a:xfrm>
            <a:off x="54864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排版发布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4864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工具体系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920240" y="4069080"/>
            <a:ext cx="914400" cy="27432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Markdown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251960" y="3840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</a:rPr>
              <a:t>→</a:t>
            </a:r>
            <a:endParaRPr lang="en-US" sz="3200" dirty="0"/>
          </a:p>
        </p:txBody>
      </p:sp>
      <p:sp>
        <p:nvSpPr>
          <p:cNvPr id="42" name="Shape 40"/>
          <p:cNvSpPr/>
          <p:nvPr/>
        </p:nvSpPr>
        <p:spPr>
          <a:xfrm>
            <a:off x="448056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5600" dirty="0"/>
          </a:p>
        </p:txBody>
      </p:sp>
      <p:sp>
        <p:nvSpPr>
          <p:cNvPr id="44" name="Text 42"/>
          <p:cNvSpPr/>
          <p:nvPr/>
        </p:nvSpPr>
        <p:spPr>
          <a:xfrm>
            <a:off x="448056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钩子设计</a:t>
            </a:r>
            <a:endParaRPr lang="en-US" sz="2400" dirty="0"/>
          </a:p>
        </p:txBody>
      </p:sp>
      <p:sp>
        <p:nvSpPr>
          <p:cNvPr id="45" name="Text 43"/>
          <p:cNvSpPr/>
          <p:nvPr/>
        </p:nvSpPr>
        <p:spPr>
          <a:xfrm>
            <a:off x="448056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型轮换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852160" y="4069080"/>
            <a:ext cx="914400" cy="27432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工具/认知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/变现福利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183880" y="38404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</a:rPr>
              <a:t>→</a:t>
            </a:r>
            <a:endParaRPr lang="en-US" sz="3200" dirty="0"/>
          </a:p>
        </p:txBody>
      </p:sp>
      <p:sp>
        <p:nvSpPr>
          <p:cNvPr id="49" name="Shape 47"/>
          <p:cNvSpPr/>
          <p:nvPr/>
        </p:nvSpPr>
        <p:spPr>
          <a:xfrm>
            <a:off x="8412480" y="1828800"/>
            <a:ext cx="3657600" cy="420624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5B8DB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20116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8D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5600" dirty="0"/>
          </a:p>
        </p:txBody>
      </p:sp>
      <p:sp>
        <p:nvSpPr>
          <p:cNvPr id="51" name="Text 49"/>
          <p:cNvSpPr/>
          <p:nvPr/>
        </p:nvSpPr>
        <p:spPr>
          <a:xfrm>
            <a:off x="841248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福利包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8412480" y="3611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8D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兑承诺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784080" y="4069080"/>
            <a:ext cx="914400" cy="27432"/>
          </a:xfrm>
          <a:prstGeom prst="rect">
            <a:avLst/>
          </a:prstGeom>
          <a:solidFill>
            <a:srgbClr val="5B8DBE"/>
          </a:solidFill>
          <a:ln w="12700">
            <a:solidFill>
              <a:srgbClr val="5B8DB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686800" y="425196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做出来 + 标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定位选题：先知道为谁写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写作前必问 3 个问题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371600" y="2194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目标读者是谁？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画像：年龄 / 身份 / 痛点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（不是「所有人」）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8328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他们卡在哪？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个最具体的撞墙场景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（用学员原话）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5303520" cy="1097280"/>
          </a:xfrm>
          <a:prstGeom prst="roundRect">
            <a:avLst>
              <a:gd name="adj" fmla="val 8333"/>
            </a:avLst>
          </a:prstGeom>
          <a:solidFill>
            <a:srgbClr val="24302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63440"/>
            <a:ext cx="73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371600" y="47548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我能给什么？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166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 + 撞墙 + 资源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（不是「干货」）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 5 个来源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26480" y="210312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学员撞墙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0" y="2743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评论区高频问题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338328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6656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自己日记/复盘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26480" y="402336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6560" y="4023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同行爆款拆解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26480" y="466344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🤔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66560" y="4663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反常识观点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选题不用想 — 今天做的事，就是明天的选题。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琪萌案例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77440" y="50292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琪姐的选题来自哪里？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3061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琪姐的「今天」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91640" y="2423160"/>
            <a:ext cx="36576" cy="27432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学员视频违规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2860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学员撞墙 → 公众号选题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9992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91640" y="3136392"/>
            <a:ext cx="36576" cy="27432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9992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直播答疑首秀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29992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实战 → 「3 类客户判断」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7124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691640" y="3849624"/>
            <a:ext cx="36576" cy="27432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37124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复盘方法论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0" y="371246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反思 → 「听了≠会了」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44256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691640" y="4562856"/>
            <a:ext cx="36576" cy="27432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0" y="44256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公众号联动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0" y="44256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数据复盘 → 「数据起色」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1389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691640" y="5276088"/>
            <a:ext cx="36576" cy="27432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0" y="51389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产品矩阵重构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57600" y="51389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决策 → 「199→69」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选题生成 3 步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309360" y="2103120"/>
            <a:ext cx="822960" cy="822960"/>
          </a:xfrm>
          <a:prstGeom prst="ellipse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31520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每天写 3 行：今天做了什么、卡在哪、学到什么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3291840"/>
            <a:ext cx="822960" cy="822960"/>
          </a:xfrm>
          <a:prstGeom prst="ellipse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291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73152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1520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用「读者原话」+「自己撞墙」各挑 1 条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4480560"/>
            <a:ext cx="822960" cy="822960"/>
          </a:xfrm>
          <a:prstGeom prst="ellipse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480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73152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315200" y="4937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 3 选 + 钩子 1 句 + 行动 1 步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你不需要「想选题」，你只需要「记今天」。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素材整合：真人引流文 vs AI 洗稿文的区别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三合一配比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4978908" cy="64008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49789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40-50%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27548" y="2103120"/>
            <a:ext cx="3042666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27548" y="2103120"/>
            <a:ext cx="30426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 20-30%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70214" y="2103120"/>
            <a:ext cx="3042666" cy="64008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0214" y="2103120"/>
            <a:ext cx="304266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撞墙 20-30%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公众号原文 40-50%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137160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97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胡子哥直播答疑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Karpathy LLM Wiki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产品配置细节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30175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笔记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Vault 笔记 20-30%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4160520"/>
            <a:ext cx="13716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4297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决策记录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知识卡片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Synthesis 长文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0" y="301752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9A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3154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撞墙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9536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自己撞墙 20-30%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95360" y="4160520"/>
            <a:ext cx="1371600" cy="27432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42976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577 播放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通勤 5h 撞墙</a:t>
            </a:r>
            <a:endParaRPr lang="en-US" sz="12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138 天心路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只转述原文 = 抄观点 / 只写 vault = 学术综述 / 三合一 = 别人写不出来。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写作结构：7 步黄金骨架（3-7 分钟口播标准）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15-20s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2286000"/>
            <a:ext cx="1737360" cy="27432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304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抓住观众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651760"/>
            <a:ext cx="23317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43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一句话主张 / 问题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反常识开场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9000" y="155448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4340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PROBLEM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4340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30-45s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2286000"/>
            <a:ext cx="1737360" cy="27432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2304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制造共鸣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11880" y="2651760"/>
            <a:ext cx="23317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2743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现状困境 + 为什么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不做的代价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155448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2376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 / 案例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2376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60-90s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2286000"/>
            <a:ext cx="1737360" cy="27432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2304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画面感证明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92240" y="2651760"/>
            <a:ext cx="23317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743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发生了什么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转折点 + 结果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189720" y="155448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72600" y="169164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726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104120" y="16916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观点萃取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10412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20-30s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104120" y="2286000"/>
            <a:ext cx="1737360" cy="27432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04120" y="23042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一句提纯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372600" y="2651760"/>
            <a:ext cx="23317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72600" y="27432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 25 字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可独立传播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393192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" y="406908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463040" y="4069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对标迁移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463040" y="4389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30-45s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463040" y="4663440"/>
            <a:ext cx="1737360" cy="27432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63040" y="4681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跨域类比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" y="5029200"/>
            <a:ext cx="23317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5120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2 个不同领域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让观众「也能用」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29000" y="393192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11880" y="406908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1188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4343400" y="4069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落地行动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343400" y="4389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15-20s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343400" y="4663440"/>
            <a:ext cx="1737360" cy="27432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3400" y="4681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给抓手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611880" y="5029200"/>
            <a:ext cx="23317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11880" y="5120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分钟能做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成功标志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309360" y="393192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4069080"/>
            <a:ext cx="640080" cy="6400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9224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7223760" y="4069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223760" y="4389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10-15s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223760" y="4663440"/>
            <a:ext cx="1737360" cy="27432"/>
          </a:xfrm>
          <a:prstGeom prst="rect">
            <a:avLst/>
          </a:prstGeom>
          <a:solidFill>
            <a:srgbClr val="8FA88B"/>
          </a:solidFill>
          <a:ln w="12700">
            <a:solidFill>
              <a:srgbClr val="8FA8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23760" y="4681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引导互动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492240" y="5029200"/>
            <a:ext cx="233172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92240" y="51206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回应开场 / 反问</a:t>
            </a:r>
            <a:endParaRPr lang="en-US" sz="10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0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钩子延伸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开场抓眼球 → PROBLEM 抓共鸣 → 故事抓信任 → 落地抓转化。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 3 秒决定看不看完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种钩子，不要每篇都用同一种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🔢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数字锚点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1874520"/>
            <a:ext cx="36576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691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「我用 45 天把 577 播放做到稳定 1000+」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43029"/>
          </a:solidFill>
          <a:ln w="19050">
            <a:solidFill>
              <a:srgbClr val="D49A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🤯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554480" y="26060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反常识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74720" y="2788920"/>
            <a:ext cx="36576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6060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「公众号不是写给所有人看的」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43029"/>
          </a:solidFill>
          <a:ln w="19050">
            <a:solidFill>
              <a:srgbClr val="C4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0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💔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554480" y="35204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痛点共鸣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74720" y="3703320"/>
            <a:ext cx="36576" cy="45720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520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「我帮学员沟通了 2 小时，她第二天还问」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43029"/>
          </a:solidFill>
          <a:ln w="19050">
            <a:solidFill>
              <a:srgbClr val="D4A8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434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🎬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554480" y="4434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故事悬念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74720" y="4617720"/>
            <a:ext cx="36576" cy="45720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4434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「8 月 7 号那天，一个学员的反馈让我坐一晚上」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43029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349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554480" y="53492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金句开场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474720" y="5532120"/>
            <a:ext cx="36576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53492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「变现是在做的过程中长出来的」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排版发布：把 45 分钟压到 5 分钟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排版 3 条铁律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4302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94560"/>
            <a:ext cx="502920" cy="50292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210312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字号统一：标题 22 / 正文 16 / 注释 12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4302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971800"/>
            <a:ext cx="502920" cy="50292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28803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段间距固定：1.5 倍行距 + 段后 1 空行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303520" cy="685800"/>
          </a:xfrm>
          <a:prstGeom prst="roundRect">
            <a:avLst>
              <a:gd name="adj" fmla="val 10667"/>
            </a:avLst>
          </a:prstGeom>
          <a:solidFill>
            <a:srgbClr val="24302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749040"/>
            <a:ext cx="502920" cy="50292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36576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强调只两种：加粗 + 引用块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2648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工具流水线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26480" y="2103120"/>
            <a:ext cx="5486400" cy="548640"/>
          </a:xfrm>
          <a:prstGeom prst="rect">
            <a:avLst/>
          </a:prstGeom>
          <a:solidFill>
            <a:srgbClr val="24302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194560"/>
            <a:ext cx="365760" cy="36576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2084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95360" y="2103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写稿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5486400" cy="548640"/>
          </a:xfrm>
          <a:prstGeom prst="rect">
            <a:avLst/>
          </a:prstGeom>
          <a:solidFill>
            <a:srgbClr val="24302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2834640"/>
            <a:ext cx="365760" cy="36576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2084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95360" y="27432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排版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3383280"/>
            <a:ext cx="5486400" cy="548640"/>
          </a:xfrm>
          <a:prstGeom prst="rect">
            <a:avLst/>
          </a:prstGeom>
          <a:solidFill>
            <a:srgbClr val="24302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474720"/>
            <a:ext cx="365760" cy="36576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95360" y="3383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转换 HTML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126480" y="4023360"/>
            <a:ext cx="5486400" cy="548640"/>
          </a:xfrm>
          <a:prstGeom prst="rect">
            <a:avLst/>
          </a:prstGeom>
          <a:solidFill>
            <a:srgbClr val="243029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4114800"/>
            <a:ext cx="365760" cy="365760"/>
          </a:xfrm>
          <a:prstGeom prst="ellipse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2084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59536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推草稿箱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真正的阅读体验 — 让读者忘了排版的存在。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钩子设计：5 型轮换，不重复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43029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118872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916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2024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工具教程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2148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例：WorkBuddy 自动化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74520"/>
            <a:ext cx="36576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钩子：工具福利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关键词：「公众号」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6576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6916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字数 2800-3200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（复杂可到 4000+）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06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43029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606040"/>
            <a:ext cx="1188720" cy="8229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06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920240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+ 方法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2024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例：WorkBuddy + Obsidian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2788920"/>
            <a:ext cx="36576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606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钩子：工具福利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关键词：「排版」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2788920"/>
            <a:ext cx="36576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2606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字数 2800-3200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（复杂可到 4000+）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43029"/>
          </a:solidFill>
          <a:ln w="19050">
            <a:solidFill>
              <a:srgbClr val="FFC8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520440"/>
            <a:ext cx="1188720" cy="8229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204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920240" y="3611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认知重塑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92024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例：任务思维 → 系统思维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703320"/>
            <a:ext cx="36576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520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钩子：认知福利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关键词：「评判」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38160" y="3703320"/>
            <a:ext cx="36576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520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字数 2800-3200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（复杂可到 4000+）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4348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43029"/>
          </a:solidFill>
          <a:ln w="19050">
            <a:solidFill>
              <a:srgbClr val="D4A84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434840"/>
            <a:ext cx="1188720" cy="82296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4348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1920240" y="4526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 + 系统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920240" y="4892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例：AI 时代稀缺的是判断力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4617720"/>
            <a:ext cx="36576" cy="45720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434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钩子：认知 + 系统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754880" y="4846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关键词：「锚点」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138160" y="4617720"/>
            <a:ext cx="36576" cy="45720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0" y="4434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字数 2800-3200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（复杂可到 4000+）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43029"/>
          </a:solidFill>
          <a:ln w="19050">
            <a:solidFill>
              <a:srgbClr val="D49A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5349240"/>
            <a:ext cx="1188720" cy="82296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53492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920240" y="5440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变现闭环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920240" y="5806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例：AI 知识库 0 到能赚钱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0" y="5532120"/>
            <a:ext cx="36576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5349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钩子：变现福利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754880" y="5760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关键词：「决策卡」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138160" y="5532120"/>
            <a:ext cx="36576" cy="457200"/>
          </a:xfrm>
          <a:prstGeom prst="rect">
            <a:avLst/>
          </a:prstGeom>
          <a:solidFill>
            <a:srgbClr val="D49A88"/>
          </a:solidFill>
          <a:ln w="12700">
            <a:solidFill>
              <a:srgbClr val="D49A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21040" y="5349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字数 2800-3200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（复杂可到 4000+）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B8DBE"/>
          </a:solidFill>
          <a:ln w="12700">
            <a:solidFill>
              <a:srgbClr val="5B8D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5B8DBE"/>
          </a:solidFill>
          <a:ln w="12700">
            <a:solidFill>
              <a:srgbClr val="5B8D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solidFill>
            <a:srgbClr val="5B8DBE"/>
          </a:solidFill>
          <a:ln w="12700">
            <a:solidFill>
              <a:srgbClr val="5B8D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50292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福利包：必须真做，兑现承诺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🛠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工具福利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920240" y="3108960"/>
            <a:ext cx="91440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例：公众号 / 排版 / 踩坑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指令清单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排版预设参数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90% 撞的配置坑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55448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48056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认知福利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852160" y="3108960"/>
            <a:ext cx="9144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例：评判 / 锚点 / 七层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36576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判断力 7 层框架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决策锚点表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认知重构清单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0" y="155448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691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💰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41248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变现福利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784080" y="3108960"/>
            <a:ext cx="914400" cy="27432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例：决策卡 / 避坑 / 变现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36576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类客户判断图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直播连麦答疑 SOP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产品矩阵重构清单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引流文承诺的关键词领资料包 — 必须真做。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5B8DBE"/>
          </a:solidFill>
          <a:ln w="12700">
            <a:solidFill>
              <a:srgbClr val="5B8D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5B8DBE"/>
          </a:solidFill>
          <a:ln w="12700">
            <a:solidFill>
              <a:srgbClr val="5B8D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福利包 4 步制作流程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真做，不是装样子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274320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定钩子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645920" y="3154680"/>
            <a:ext cx="54864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918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 3 个关键词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 3 份资料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169164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1691640"/>
            <a:ext cx="2743200" cy="6400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47472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做资料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0" y="3154680"/>
            <a:ext cx="54864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32918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从原文 + vault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摘出来整合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不是凭空编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69164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691640"/>
            <a:ext cx="2743200" cy="64008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40080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标来源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498080" y="3154680"/>
            <a:ext cx="54864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2918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文末注「整理自 XX」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诚实免责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326880" y="1691640"/>
            <a:ext cx="2743200" cy="420624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D4A8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1691640"/>
            <a:ext cx="2743200" cy="640080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0" y="1691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326880" y="2468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私域承接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10424160" y="3154680"/>
            <a:ext cx="548640" cy="27432"/>
          </a:xfrm>
          <a:prstGeom prst="rect">
            <a:avLst/>
          </a:prstGeom>
          <a:solidFill>
            <a:srgbClr val="D4A845"/>
          </a:solidFill>
          <a:ln w="12700">
            <a:solidFill>
              <a:srgbClr val="D4A8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0" y="329184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回复后立即发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设关键词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自动回复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质量关：AI 味扫描 + 学员规范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 0 命中 — 否则就是 AI 洗稿文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词黑名单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0" cy="3840480"/>
          </a:xfrm>
          <a:prstGeom prst="roundRect">
            <a:avLst>
              <a:gd name="adj" fmla="val 2381"/>
            </a:avLst>
          </a:prstGeom>
          <a:solidFill>
            <a:srgbClr val="243029"/>
          </a:solidFill>
          <a:ln w="19050">
            <a:solidFill>
              <a:srgbClr val="C445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3172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综上所述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3317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总而言之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83464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在当今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283464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不可或缺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33756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37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至关重要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333756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337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赋能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84048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840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打造 XX 闭环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84048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8404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画龙点睛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34340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343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锦上添花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83280" y="434340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4343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不言而喻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484632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846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显而易见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484632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48463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让我们一起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" y="534924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349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深度解析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83280" y="534924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5349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全面解析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7240" y="585216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852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深入探讨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83280" y="5852160"/>
            <a:ext cx="2468880" cy="411480"/>
          </a:xfrm>
          <a:prstGeom prst="rect">
            <a:avLst/>
          </a:prstGeom>
          <a:solidFill>
            <a:srgbClr val="C44545">
              <a:alpha val="20000"/>
            </a:srgbClr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0" y="58521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45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在某种程度上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学员口吻铁律（琪萌）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309360" y="2103120"/>
            <a:ext cx="5486400" cy="3840480"/>
          </a:xfrm>
          <a:prstGeom prst="roundRect">
            <a:avLst>
              <a:gd name="adj" fmla="val 2381"/>
            </a:avLst>
          </a:prstGeom>
          <a:solidFill>
            <a:srgbClr val="243029"/>
          </a:solidFill>
          <a:ln w="19050">
            <a:solidFill>
              <a:srgbClr val="D49A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331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58000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第一人称「我」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92240" y="2880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85800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具象场景（母婴店 / 二胎）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492240" y="3429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58000" y="34290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拒绝修辞，少形容词副词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492240" y="3977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858000" y="3977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多动词（说明文不是散文）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492240" y="4526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858000" y="4526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数字真实（1695 / 6000 / 69）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492240" y="5074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9A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858000" y="5074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情绪曲线：低谷 → 渐升 → 高潮 → 收尾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入库铁律：文件名 + frontmatter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 = 对话当天日期，不是写作日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83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文件名格式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YYYY-MM-DD-&lt;主题关键词&gt;-公众号.md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3200400"/>
          </a:xfrm>
          <a:prstGeom prst="roundRect">
            <a:avLst>
              <a:gd name="adj" fmla="val 2857"/>
            </a:avLst>
          </a:prstGeom>
          <a:solidFill>
            <a:srgbClr val="24302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frontmatter 必带 11 字段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title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type: wechat-article-draft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status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343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created (对话当天日期)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published (留空)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wechat_url (留空)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3246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tags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611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audience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0" y="3977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summary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4343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title_candidates (3 选)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4709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video_tags (3 安全标签)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5074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source_materials (双向链)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309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入库位置：公众号文章/，福利包 → 公众号文章/Resources/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3657600"/>
            <a:ext cx="7315200" cy="7315200"/>
          </a:xfrm>
          <a:prstGeom prst="ellipse">
            <a:avLst/>
          </a:prstGeom>
          <a:solidFill>
            <a:srgbClr val="2C5F2D">
              <a:alpha val="20000"/>
            </a:srgbClr>
          </a:solidFill>
          <a:ln w="12700">
            <a:solidFill>
              <a:srgbClr val="2C5F2D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-2743200"/>
            <a:ext cx="7315200" cy="7315200"/>
          </a:xfrm>
          <a:prstGeom prst="ellipse">
            <a:avLst/>
          </a:prstGeom>
          <a:solidFill>
            <a:srgbClr val="FFC832">
              <a:alpha val="15000"/>
            </a:srgbClr>
          </a:solidFill>
          <a:ln w="12700">
            <a:solidFill>
              <a:srgbClr val="FFC832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今天就能做的 3 件事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写公众号，先从「写」开始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011680" y="19659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记今天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3291840" cy="274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803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今晚写 3 行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今天做了什么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卡在哪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学到什么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9202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943600" y="19659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 1 个选题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2743200"/>
            <a:ext cx="329184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8803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从今天的事里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 1 个最具体的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扩成标题 3 选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钩子 1 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12480" y="1828800"/>
            <a:ext cx="3657600" cy="3291840"/>
          </a:xfrm>
          <a:prstGeom prst="roundRect">
            <a:avLst>
              <a:gd name="adj" fmla="val 4167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19202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875520" y="196596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 1 篇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595360" y="2743200"/>
            <a:ext cx="3291840" cy="27432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28803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7 段骨架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写完发布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评论区挂 3 关键词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真做福利包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关注「周盛说」视频号 · 看我怎么实现一人公司业务闭环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评论区留言「公众号」拿今天课件 + 7 段骨架模板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一人公司讲师版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公众号写作全流程</dc:title>
  <dc:subject>PptxGenJS Presentation</dc:subject>
  <dc:creator>周盛 / 视频号「周盛说」</dc:creator>
  <cp:lastModifiedBy>周盛 / 视频号「周盛说」</cp:lastModifiedBy>
  <cp:revision>1</cp:revision>
  <dcterms:created xsi:type="dcterms:W3CDTF">2026-09-30T12:07:50Z</dcterms:created>
  <dcterms:modified xsi:type="dcterms:W3CDTF">2026-09-30T12:07:50Z</dcterms:modified>
</cp:coreProperties>
</file>