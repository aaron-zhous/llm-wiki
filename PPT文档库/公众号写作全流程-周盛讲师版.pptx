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0"/>
          </a:xfrm>
          <a:prstGeom prst="rect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1828800" y="5029200"/>
            <a:ext cx="4572000" cy="4572000"/>
          </a:xfrm>
          <a:prstGeom prst="ellipse">
            <a:avLst/>
          </a:prstGeom>
          <a:solidFill>
            <a:srgbClr val="2C5F2D">
              <a:alpha val="30000"/>
            </a:srgbClr>
          </a:solidFill>
          <a:ln w="12700">
            <a:solidFill>
              <a:srgbClr val="2C5F2D">
                <a:alpha val="3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601200" y="-1828800"/>
            <a:ext cx="4572000" cy="4572000"/>
          </a:xfrm>
          <a:prstGeom prst="ellipse">
            <a:avLst/>
          </a:prstGeom>
          <a:solidFill>
            <a:srgbClr val="FFC832">
              <a:alpha val="20000"/>
            </a:srgbClr>
          </a:solidFill>
          <a:ln w="12700">
            <a:solidFill>
              <a:srgbClr val="FFC832">
                <a:alpha val="20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463040"/>
            <a:ext cx="112471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0F5E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公众号写作全流程</a:t>
            </a:r>
            <a:endParaRPr lang="en-US" sz="4800" dirty="0"/>
          </a:p>
        </p:txBody>
      </p:sp>
      <p:sp>
        <p:nvSpPr>
          <p:cNvPr id="7" name="Text 5"/>
          <p:cNvSpPr/>
          <p:nvPr/>
        </p:nvSpPr>
        <p:spPr>
          <a:xfrm>
            <a:off x="457200" y="246888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C83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选题 × 素材 × 结构 × 排版 × 钩子 × 福利包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5029200" y="3383280"/>
            <a:ext cx="2103120" cy="36576"/>
          </a:xfrm>
          <a:prstGeom prst="rect">
            <a:avLst/>
          </a:prstGeom>
          <a:solidFill>
            <a:srgbClr val="FFC832"/>
          </a:solidFill>
          <a:ln w="12700">
            <a:solidFill>
              <a:srgbClr val="FFC83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411480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0F5E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讲师：周盛 · 视频号「周盛说」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57200" y="466344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FA8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一人公司第 X 天  ·  学员训练营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57200" y="548640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97BC6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姜胡说方法论  ×  胡子哥社群实战  ×  琪萌教练案例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2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0"/>
          </a:xfrm>
          <a:prstGeom prst="rect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45720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0F5E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做公众号之前，先对 4 件事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48640" y="109728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FFC83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撞墙了再补，代价很大。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1737360"/>
            <a:ext cx="2743200" cy="4206240"/>
          </a:xfrm>
          <a:prstGeom prst="roundRect">
            <a:avLst>
              <a:gd name="adj" fmla="val 5000"/>
            </a:avLst>
          </a:prstGeom>
          <a:solidFill>
            <a:srgbClr val="243029"/>
          </a:solidFill>
          <a:ln w="25400">
            <a:solidFill>
              <a:srgbClr val="2C5F2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20116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600" dirty="0">
                <a:solidFill>
                  <a:srgbClr val="000000"/>
                </a:solidFill>
              </a:rPr>
              <a:t>📝</a:t>
            </a:r>
            <a:endParaRPr lang="en-US" sz="5600" dirty="0"/>
          </a:p>
        </p:txBody>
      </p:sp>
      <p:sp>
        <p:nvSpPr>
          <p:cNvPr id="8" name="Text 6"/>
          <p:cNvSpPr/>
          <p:nvPr/>
        </p:nvSpPr>
        <p:spPr>
          <a:xfrm>
            <a:off x="548640" y="3383280"/>
            <a:ext cx="2743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C5F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不知道写啥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1645920" y="4069080"/>
            <a:ext cx="548640" cy="36576"/>
          </a:xfrm>
          <a:prstGeom prst="rect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4206240"/>
            <a:ext cx="23774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400"/>
              </a:spcBef>
              <a:buNone/>
            </a:pPr>
            <a:r>
              <a:rPr lang="en-US" sz="1300" dirty="0">
                <a:solidFill>
                  <a:srgbClr val="F0F5E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选题枯竭</a:t>
            </a:r>
            <a:endParaRPr lang="en-US" sz="1300" dirty="0"/>
          </a:p>
          <a:p>
            <a:pPr algn="ctr" indent="0" marL="0">
              <a:spcBef>
                <a:spcPts val="400"/>
              </a:spcBef>
              <a:buNone/>
            </a:pPr>
            <a:r>
              <a:rPr lang="en-US" sz="1300" dirty="0">
                <a:solidFill>
                  <a:srgbClr val="F0F5E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不知道读者</a:t>
            </a:r>
            <a:endParaRPr lang="en-US" sz="1300" dirty="0"/>
          </a:p>
          <a:p>
            <a:pPr algn="ctr" indent="0" marL="0">
              <a:spcBef>
                <a:spcPts val="400"/>
              </a:spcBef>
              <a:buNone/>
            </a:pPr>
            <a:r>
              <a:rPr lang="en-US" sz="1300" dirty="0">
                <a:solidFill>
                  <a:srgbClr val="F0F5E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想看什么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474720" y="1737360"/>
            <a:ext cx="2743200" cy="4206240"/>
          </a:xfrm>
          <a:prstGeom prst="roundRect">
            <a:avLst>
              <a:gd name="adj" fmla="val 5000"/>
            </a:avLst>
          </a:prstGeom>
          <a:solidFill>
            <a:srgbClr val="243029"/>
          </a:solidFill>
          <a:ln w="25400">
            <a:solidFill>
              <a:srgbClr val="C4454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474720" y="20116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600" dirty="0">
                <a:solidFill>
                  <a:srgbClr val="000000"/>
                </a:solidFill>
              </a:rPr>
              <a:t>💔</a:t>
            </a:r>
            <a:endParaRPr lang="en-US" sz="5600" dirty="0"/>
          </a:p>
        </p:txBody>
      </p:sp>
      <p:sp>
        <p:nvSpPr>
          <p:cNvPr id="13" name="Text 11"/>
          <p:cNvSpPr/>
          <p:nvPr/>
        </p:nvSpPr>
        <p:spPr>
          <a:xfrm>
            <a:off x="3474720" y="3383280"/>
            <a:ext cx="2743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445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写了没人看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4572000" y="4069080"/>
            <a:ext cx="548640" cy="36576"/>
          </a:xfrm>
          <a:prstGeom prst="rect">
            <a:avLst/>
          </a:prstGeom>
          <a:solidFill>
            <a:srgbClr val="C44545"/>
          </a:solidFill>
          <a:ln w="12700">
            <a:solidFill>
              <a:srgbClr val="C4454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0" y="4206240"/>
            <a:ext cx="23774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400"/>
              </a:spcBef>
              <a:buNone/>
            </a:pPr>
            <a:r>
              <a:rPr lang="en-US" sz="1300" dirty="0">
                <a:solidFill>
                  <a:srgbClr val="F0F5E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辛苦写了</a:t>
            </a:r>
            <a:endParaRPr lang="en-US" sz="1300" dirty="0"/>
          </a:p>
          <a:p>
            <a:pPr algn="ctr" indent="0" marL="0">
              <a:spcBef>
                <a:spcPts val="400"/>
              </a:spcBef>
              <a:buNone/>
            </a:pPr>
            <a:r>
              <a:rPr lang="en-US" sz="1300" dirty="0">
                <a:solidFill>
                  <a:srgbClr val="F0F5E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阅读个位</a:t>
            </a:r>
            <a:endParaRPr lang="en-US" sz="1300" dirty="0"/>
          </a:p>
          <a:p>
            <a:pPr algn="ctr" indent="0" marL="0">
              <a:spcBef>
                <a:spcPts val="400"/>
              </a:spcBef>
              <a:buNone/>
            </a:pPr>
            <a:r>
              <a:rPr lang="en-US" sz="1300" dirty="0">
                <a:solidFill>
                  <a:srgbClr val="F0F5E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400800" y="1737360"/>
            <a:ext cx="2743200" cy="4206240"/>
          </a:xfrm>
          <a:prstGeom prst="roundRect">
            <a:avLst>
              <a:gd name="adj" fmla="val 5000"/>
            </a:avLst>
          </a:prstGeom>
          <a:solidFill>
            <a:srgbClr val="243029"/>
          </a:solidFill>
          <a:ln w="25400">
            <a:solidFill>
              <a:srgbClr val="97BC6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0" y="20116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600" dirty="0">
                <a:solidFill>
                  <a:srgbClr val="000000"/>
                </a:solidFill>
              </a:rPr>
              <a:t>🧱</a:t>
            </a:r>
            <a:endParaRPr lang="en-US" sz="5600" dirty="0"/>
          </a:p>
        </p:txBody>
      </p:sp>
      <p:sp>
        <p:nvSpPr>
          <p:cNvPr id="18" name="Text 16"/>
          <p:cNvSpPr/>
          <p:nvPr/>
        </p:nvSpPr>
        <p:spPr>
          <a:xfrm>
            <a:off x="6400800" y="3383280"/>
            <a:ext cx="2743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97BC6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写不动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7498080" y="4069080"/>
            <a:ext cx="548640" cy="36576"/>
          </a:xfrm>
          <a:prstGeom prst="rect">
            <a:avLst/>
          </a:prstGeom>
          <a:solidFill>
            <a:srgbClr val="97BC62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583680" y="4206240"/>
            <a:ext cx="23774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400"/>
              </a:spcBef>
              <a:buNone/>
            </a:pPr>
            <a:r>
              <a:rPr lang="en-US" sz="1300" dirty="0">
                <a:solidFill>
                  <a:srgbClr val="F0F5E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每次都从</a:t>
            </a:r>
            <a:endParaRPr lang="en-US" sz="1300" dirty="0"/>
          </a:p>
          <a:p>
            <a:pPr algn="ctr" indent="0" marL="0">
              <a:spcBef>
                <a:spcPts val="400"/>
              </a:spcBef>
              <a:buNone/>
            </a:pPr>
            <a:r>
              <a:rPr lang="en-US" sz="1300" dirty="0">
                <a:solidFill>
                  <a:srgbClr val="F0F5E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零开始</a:t>
            </a:r>
            <a:endParaRPr lang="en-US" sz="1300" dirty="0"/>
          </a:p>
          <a:p>
            <a:pPr algn="ctr" indent="0" marL="0">
              <a:spcBef>
                <a:spcPts val="400"/>
              </a:spcBef>
              <a:buNone/>
            </a:pPr>
            <a:r>
              <a:rPr lang="en-US" sz="1300" dirty="0">
                <a:solidFill>
                  <a:srgbClr val="F0F5E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没有方法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9326880" y="1737360"/>
            <a:ext cx="2743200" cy="4206240"/>
          </a:xfrm>
          <a:prstGeom prst="roundRect">
            <a:avLst>
              <a:gd name="adj" fmla="val 5000"/>
            </a:avLst>
          </a:prstGeom>
          <a:solidFill>
            <a:srgbClr val="243029"/>
          </a:solidFill>
          <a:ln w="25400">
            <a:solidFill>
              <a:srgbClr val="D4A84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326880" y="20116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600" dirty="0">
                <a:solidFill>
                  <a:srgbClr val="000000"/>
                </a:solidFill>
              </a:rPr>
              <a:t>🔁</a:t>
            </a:r>
            <a:endParaRPr lang="en-US" sz="5600" dirty="0"/>
          </a:p>
        </p:txBody>
      </p:sp>
      <p:sp>
        <p:nvSpPr>
          <p:cNvPr id="23" name="Text 21"/>
          <p:cNvSpPr/>
          <p:nvPr/>
        </p:nvSpPr>
        <p:spPr>
          <a:xfrm>
            <a:off x="9326880" y="3383280"/>
            <a:ext cx="2743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8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写得好但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rgbClr val="D4A8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变现差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10424160" y="4069080"/>
            <a:ext cx="548640" cy="36576"/>
          </a:xfrm>
          <a:prstGeom prst="rect">
            <a:avLst/>
          </a:prstGeom>
          <a:solidFill>
            <a:srgbClr val="D4A845"/>
          </a:solidFill>
          <a:ln w="12700">
            <a:solidFill>
              <a:srgbClr val="D4A84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509760" y="4206240"/>
            <a:ext cx="23774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400"/>
              </a:spcBef>
              <a:buNone/>
            </a:pPr>
            <a:r>
              <a:rPr lang="en-US" sz="1300" dirty="0">
                <a:solidFill>
                  <a:srgbClr val="F0F5E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有阅读</a:t>
            </a:r>
            <a:endParaRPr lang="en-US" sz="1300" dirty="0"/>
          </a:p>
          <a:p>
            <a:pPr algn="ctr" indent="0" marL="0">
              <a:spcBef>
                <a:spcPts val="400"/>
              </a:spcBef>
              <a:buNone/>
            </a:pPr>
            <a:r>
              <a:rPr lang="en-US" sz="1300" dirty="0">
                <a:solidFill>
                  <a:srgbClr val="F0F5E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没粉丝</a:t>
            </a:r>
            <a:endParaRPr lang="en-US" sz="1300" dirty="0"/>
          </a:p>
          <a:p>
            <a:pPr algn="ctr" indent="0" marL="0">
              <a:spcBef>
                <a:spcPts val="400"/>
              </a:spcBef>
              <a:buNone/>
            </a:pPr>
            <a:r>
              <a:rPr lang="en-US" sz="1300" dirty="0">
                <a:solidFill>
                  <a:srgbClr val="F0F5E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没转化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2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0"/>
          </a:xfrm>
          <a:prstGeom prst="rect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45720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0F5E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今天讲透 6 件事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109728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FFC83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 0 到一篇 3000 字引流文 + 福利包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1828800"/>
            <a:ext cx="3657600" cy="4206240"/>
          </a:xfrm>
          <a:prstGeom prst="roundRect">
            <a:avLst>
              <a:gd name="adj" fmla="val 3750"/>
            </a:avLst>
          </a:prstGeom>
          <a:solidFill>
            <a:srgbClr val="243029"/>
          </a:solidFill>
          <a:ln w="25400">
            <a:solidFill>
              <a:srgbClr val="2C5F2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2011680"/>
            <a:ext cx="3657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600" b="1" dirty="0">
                <a:solidFill>
                  <a:srgbClr val="2C5F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5600" dirty="0"/>
          </a:p>
        </p:txBody>
      </p:sp>
      <p:sp>
        <p:nvSpPr>
          <p:cNvPr id="8" name="Text 6"/>
          <p:cNvSpPr/>
          <p:nvPr/>
        </p:nvSpPr>
        <p:spPr>
          <a:xfrm>
            <a:off x="548640" y="301752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0F5E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定位选题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548640" y="36118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2C5F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找到读者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1920240" y="4069080"/>
            <a:ext cx="914400" cy="27432"/>
          </a:xfrm>
          <a:prstGeom prst="rect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4251960"/>
            <a:ext cx="310896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400"/>
              </a:spcBef>
              <a:buNone/>
            </a:pPr>
            <a:r>
              <a:rPr lang="en-US" sz="1300" dirty="0">
                <a:solidFill>
                  <a:srgbClr val="8FA8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画像 + 钩子</a:t>
            </a:r>
            <a:endParaRPr lang="en-US" sz="1300" dirty="0"/>
          </a:p>
          <a:p>
            <a:pPr algn="ctr" indent="0" marL="0">
              <a:spcBef>
                <a:spcPts val="400"/>
              </a:spcBef>
              <a:buNone/>
            </a:pPr>
            <a:r>
              <a:rPr lang="en-US" sz="1300" dirty="0">
                <a:solidFill>
                  <a:srgbClr val="8FA8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+ 选题库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251960" y="3840480"/>
            <a:ext cx="228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C832"/>
                </a:solidFill>
              </a:rPr>
              <a:t>→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480560" y="1828800"/>
            <a:ext cx="3657600" cy="4206240"/>
          </a:xfrm>
          <a:prstGeom prst="roundRect">
            <a:avLst>
              <a:gd name="adj" fmla="val 3750"/>
            </a:avLst>
          </a:prstGeom>
          <a:solidFill>
            <a:srgbClr val="243029"/>
          </a:solidFill>
          <a:ln w="25400">
            <a:solidFill>
              <a:srgbClr val="97BC6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480560" y="2011680"/>
            <a:ext cx="3657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600" b="1" dirty="0">
                <a:solidFill>
                  <a:srgbClr val="97BC6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5600" dirty="0"/>
          </a:p>
        </p:txBody>
      </p:sp>
      <p:sp>
        <p:nvSpPr>
          <p:cNvPr id="15" name="Text 13"/>
          <p:cNvSpPr/>
          <p:nvPr/>
        </p:nvSpPr>
        <p:spPr>
          <a:xfrm>
            <a:off x="4480560" y="301752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0F5E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素材整合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4480560" y="36118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97BC6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三合一配比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852160" y="4069080"/>
            <a:ext cx="914400" cy="27432"/>
          </a:xfrm>
          <a:prstGeom prst="rect">
            <a:avLst/>
          </a:prstGeom>
          <a:solidFill>
            <a:srgbClr val="97BC62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754880" y="4251960"/>
            <a:ext cx="310896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400"/>
              </a:spcBef>
              <a:buNone/>
            </a:pPr>
            <a:r>
              <a:rPr lang="en-US" sz="1300" dirty="0">
                <a:solidFill>
                  <a:srgbClr val="8FA8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原文 + 笔记</a:t>
            </a:r>
            <a:endParaRPr lang="en-US" sz="1300" dirty="0"/>
          </a:p>
          <a:p>
            <a:pPr algn="ctr" indent="0" marL="0">
              <a:spcBef>
                <a:spcPts val="400"/>
              </a:spcBef>
              <a:buNone/>
            </a:pPr>
            <a:r>
              <a:rPr lang="en-US" sz="1300" dirty="0">
                <a:solidFill>
                  <a:srgbClr val="8FA8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+ 撞墙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8183880" y="3840480"/>
            <a:ext cx="228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C832"/>
                </a:solidFill>
              </a:rPr>
              <a:t>→</a:t>
            </a:r>
            <a:endParaRPr lang="en-US" sz="3200" dirty="0"/>
          </a:p>
        </p:txBody>
      </p:sp>
      <p:sp>
        <p:nvSpPr>
          <p:cNvPr id="20" name="Shape 18"/>
          <p:cNvSpPr/>
          <p:nvPr/>
        </p:nvSpPr>
        <p:spPr>
          <a:xfrm>
            <a:off x="8412480" y="1828800"/>
            <a:ext cx="3657600" cy="4206240"/>
          </a:xfrm>
          <a:prstGeom prst="roundRect">
            <a:avLst>
              <a:gd name="adj" fmla="val 3750"/>
            </a:avLst>
          </a:prstGeom>
          <a:solidFill>
            <a:srgbClr val="243029"/>
          </a:solidFill>
          <a:ln w="25400">
            <a:solidFill>
              <a:srgbClr val="FFC83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412480" y="2011680"/>
            <a:ext cx="3657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600" b="1" dirty="0">
                <a:solidFill>
                  <a:srgbClr val="FFC83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5600" dirty="0"/>
          </a:p>
        </p:txBody>
      </p:sp>
      <p:sp>
        <p:nvSpPr>
          <p:cNvPr id="22" name="Text 20"/>
          <p:cNvSpPr/>
          <p:nvPr/>
        </p:nvSpPr>
        <p:spPr>
          <a:xfrm>
            <a:off x="8412480" y="301752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0F5E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写作结构</a:t>
            </a:r>
            <a:endParaRPr lang="en-US" sz="2400" dirty="0"/>
          </a:p>
        </p:txBody>
      </p:sp>
      <p:sp>
        <p:nvSpPr>
          <p:cNvPr id="23" name="Text 21"/>
          <p:cNvSpPr/>
          <p:nvPr/>
        </p:nvSpPr>
        <p:spPr>
          <a:xfrm>
            <a:off x="8412480" y="36118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FFC83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 段骨架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9784080" y="4069080"/>
            <a:ext cx="914400" cy="27432"/>
          </a:xfrm>
          <a:prstGeom prst="rect">
            <a:avLst/>
          </a:prstGeom>
          <a:solidFill>
            <a:srgbClr val="FFC832"/>
          </a:solidFill>
          <a:ln w="12700">
            <a:solidFill>
              <a:srgbClr val="FFC832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686800" y="4251960"/>
            <a:ext cx="310896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400"/>
              </a:spcBef>
              <a:buNone/>
            </a:pPr>
            <a:r>
              <a:rPr lang="en-US" sz="1300" dirty="0">
                <a:solidFill>
                  <a:srgbClr val="8FA8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开头 + 主体</a:t>
            </a:r>
            <a:endParaRPr lang="en-US" sz="1300" dirty="0"/>
          </a:p>
          <a:p>
            <a:pPr algn="ctr" indent="0" marL="0">
              <a:spcBef>
                <a:spcPts val="400"/>
              </a:spcBef>
              <a:buNone/>
            </a:pPr>
            <a:r>
              <a:rPr lang="en-US" sz="1300" dirty="0">
                <a:solidFill>
                  <a:srgbClr val="8FA8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+ 收尾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48640" y="1828800"/>
            <a:ext cx="3657600" cy="0"/>
          </a:xfrm>
          <a:prstGeom prst="roundRect">
            <a:avLst>
              <a:gd name="adj" fmla="val Infinity"/>
            </a:avLst>
          </a:prstGeom>
          <a:solidFill>
            <a:srgbClr val="243029"/>
          </a:solidFill>
          <a:ln w="12700">
            <a:solidFill>
              <a:srgbClr val="D4A845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480560" y="1828800"/>
            <a:ext cx="3657600" cy="0"/>
          </a:xfrm>
          <a:prstGeom prst="roundRect">
            <a:avLst>
              <a:gd name="adj" fmla="val Infinity"/>
            </a:avLst>
          </a:prstGeom>
          <a:solidFill>
            <a:srgbClr val="243029"/>
          </a:solidFill>
          <a:ln w="12700">
            <a:solidFill>
              <a:srgbClr val="D49A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412480" y="1828800"/>
            <a:ext cx="3657600" cy="0"/>
          </a:xfrm>
          <a:prstGeom prst="roundRect">
            <a:avLst>
              <a:gd name="adj" fmla="val Infinity"/>
            </a:avLst>
          </a:prstGeom>
          <a:solidFill>
            <a:srgbClr val="243029"/>
          </a:solidFill>
          <a:ln w="12700">
            <a:solidFill>
              <a:srgbClr val="5B8DB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48640" y="1828800"/>
            <a:ext cx="0" cy="0"/>
          </a:xfrm>
          <a:prstGeom prst="roundRect">
            <a:avLst/>
          </a:prstGeom>
          <a:solidFill>
            <a:srgbClr val="243029"/>
          </a:solidFill>
          <a:ln w="12700">
            <a:solidFill>
              <a:srgbClr val="D4A845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480560" y="1828800"/>
            <a:ext cx="0" cy="0"/>
          </a:xfrm>
          <a:prstGeom prst="roundRect">
            <a:avLst/>
          </a:prstGeom>
          <a:solidFill>
            <a:srgbClr val="243029"/>
          </a:solidFill>
          <a:ln w="12700">
            <a:solidFill>
              <a:srgbClr val="D49A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412480" y="1828800"/>
            <a:ext cx="0" cy="0"/>
          </a:xfrm>
          <a:prstGeom prst="roundRect">
            <a:avLst/>
          </a:prstGeom>
          <a:solidFill>
            <a:srgbClr val="243029"/>
          </a:solidFill>
          <a:ln w="12700">
            <a:solidFill>
              <a:srgbClr val="5B8DBE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48640" y="1828800"/>
            <a:ext cx="3657600" cy="4206240"/>
          </a:xfrm>
          <a:prstGeom prst="rect">
            <a:avLst/>
          </a:prstGeom>
          <a:solidFill>
            <a:srgbClr val="1A2419"/>
          </a:solidFill>
          <a:ln w="12700">
            <a:solidFill>
              <a:srgbClr val="1A241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480560" y="1828800"/>
            <a:ext cx="3657600" cy="4206240"/>
          </a:xfrm>
          <a:prstGeom prst="rect">
            <a:avLst/>
          </a:prstGeom>
          <a:solidFill>
            <a:srgbClr val="1A2419"/>
          </a:solidFill>
          <a:ln w="12700">
            <a:solidFill>
              <a:srgbClr val="1A241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412480" y="1828800"/>
            <a:ext cx="3657600" cy="4206240"/>
          </a:xfrm>
          <a:prstGeom prst="rect">
            <a:avLst/>
          </a:prstGeom>
          <a:solidFill>
            <a:srgbClr val="1A2419"/>
          </a:solidFill>
          <a:ln w="12700">
            <a:solidFill>
              <a:srgbClr val="1A241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48640" y="1828800"/>
            <a:ext cx="3657600" cy="4206240"/>
          </a:xfrm>
          <a:prstGeom prst="roundRect">
            <a:avLst>
              <a:gd name="adj" fmla="val 3750"/>
            </a:avLst>
          </a:prstGeom>
          <a:solidFill>
            <a:srgbClr val="243029"/>
          </a:solidFill>
          <a:ln w="25400">
            <a:solidFill>
              <a:srgbClr val="D4A845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48640" y="2011680"/>
            <a:ext cx="3657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600" b="1" dirty="0">
                <a:solidFill>
                  <a:srgbClr val="D4A8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en-US" sz="5600" dirty="0"/>
          </a:p>
        </p:txBody>
      </p:sp>
      <p:sp>
        <p:nvSpPr>
          <p:cNvPr id="37" name="Text 35"/>
          <p:cNvSpPr/>
          <p:nvPr/>
        </p:nvSpPr>
        <p:spPr>
          <a:xfrm>
            <a:off x="548640" y="301752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0F5E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排版发布</a:t>
            </a:r>
            <a:endParaRPr lang="en-US" sz="2400" dirty="0"/>
          </a:p>
        </p:txBody>
      </p:sp>
      <p:sp>
        <p:nvSpPr>
          <p:cNvPr id="38" name="Text 36"/>
          <p:cNvSpPr/>
          <p:nvPr/>
        </p:nvSpPr>
        <p:spPr>
          <a:xfrm>
            <a:off x="548640" y="36118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D4A8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工具体系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1920240" y="4069080"/>
            <a:ext cx="914400" cy="27432"/>
          </a:xfrm>
          <a:prstGeom prst="rect">
            <a:avLst/>
          </a:prstGeom>
          <a:solidFill>
            <a:srgbClr val="D4A845"/>
          </a:solidFill>
          <a:ln w="12700">
            <a:solidFill>
              <a:srgbClr val="D4A845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822960" y="4251960"/>
            <a:ext cx="310896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400"/>
              </a:spcBef>
              <a:buNone/>
            </a:pPr>
            <a:r>
              <a:rPr lang="en-US" sz="1300" dirty="0">
                <a:solidFill>
                  <a:srgbClr val="8FA8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WorkBuddy</a:t>
            </a:r>
            <a:endParaRPr lang="en-US" sz="1300" dirty="0"/>
          </a:p>
          <a:p>
            <a:pPr algn="ctr" indent="0" marL="0">
              <a:spcBef>
                <a:spcPts val="400"/>
              </a:spcBef>
              <a:buNone/>
            </a:pPr>
            <a:r>
              <a:rPr lang="en-US" sz="1300" dirty="0">
                <a:solidFill>
                  <a:srgbClr val="8FA8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+ Markdown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4251960" y="3840480"/>
            <a:ext cx="228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C832"/>
                </a:solidFill>
              </a:rPr>
              <a:t>→</a:t>
            </a:r>
            <a:endParaRPr lang="en-US" sz="3200" dirty="0"/>
          </a:p>
        </p:txBody>
      </p:sp>
      <p:sp>
        <p:nvSpPr>
          <p:cNvPr id="42" name="Shape 40"/>
          <p:cNvSpPr/>
          <p:nvPr/>
        </p:nvSpPr>
        <p:spPr>
          <a:xfrm>
            <a:off x="4480560" y="1828800"/>
            <a:ext cx="3657600" cy="4206240"/>
          </a:xfrm>
          <a:prstGeom prst="roundRect">
            <a:avLst>
              <a:gd name="adj" fmla="val 3750"/>
            </a:avLst>
          </a:prstGeom>
          <a:solidFill>
            <a:srgbClr val="243029"/>
          </a:solidFill>
          <a:ln w="25400">
            <a:solidFill>
              <a:srgbClr val="D49A88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480560" y="2011680"/>
            <a:ext cx="3657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600" b="1" dirty="0">
                <a:solidFill>
                  <a:srgbClr val="D49A8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</a:t>
            </a:r>
            <a:endParaRPr lang="en-US" sz="5600" dirty="0"/>
          </a:p>
        </p:txBody>
      </p:sp>
      <p:sp>
        <p:nvSpPr>
          <p:cNvPr id="44" name="Text 42"/>
          <p:cNvSpPr/>
          <p:nvPr/>
        </p:nvSpPr>
        <p:spPr>
          <a:xfrm>
            <a:off x="4480560" y="301752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0F5E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钩子设计</a:t>
            </a:r>
            <a:endParaRPr lang="en-US" sz="2400" dirty="0"/>
          </a:p>
        </p:txBody>
      </p:sp>
      <p:sp>
        <p:nvSpPr>
          <p:cNvPr id="45" name="Text 43"/>
          <p:cNvSpPr/>
          <p:nvPr/>
        </p:nvSpPr>
        <p:spPr>
          <a:xfrm>
            <a:off x="4480560" y="36118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D49A8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 型轮换</a:t>
            </a:r>
            <a:endParaRPr lang="en-US" sz="1400" dirty="0"/>
          </a:p>
        </p:txBody>
      </p:sp>
      <p:sp>
        <p:nvSpPr>
          <p:cNvPr id="46" name="Shape 44"/>
          <p:cNvSpPr/>
          <p:nvPr/>
        </p:nvSpPr>
        <p:spPr>
          <a:xfrm>
            <a:off x="5852160" y="4069080"/>
            <a:ext cx="914400" cy="27432"/>
          </a:xfrm>
          <a:prstGeom prst="rect">
            <a:avLst/>
          </a:prstGeom>
          <a:solidFill>
            <a:srgbClr val="D49A88"/>
          </a:solidFill>
          <a:ln w="12700">
            <a:solidFill>
              <a:srgbClr val="D49A88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754880" y="4251960"/>
            <a:ext cx="310896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400"/>
              </a:spcBef>
              <a:buNone/>
            </a:pPr>
            <a:r>
              <a:rPr lang="en-US" sz="1300" dirty="0">
                <a:solidFill>
                  <a:srgbClr val="8FA8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工具/认知</a:t>
            </a:r>
            <a:endParaRPr lang="en-US" sz="1300" dirty="0"/>
          </a:p>
          <a:p>
            <a:pPr algn="ctr" indent="0" marL="0">
              <a:spcBef>
                <a:spcPts val="400"/>
              </a:spcBef>
              <a:buNone/>
            </a:pPr>
            <a:r>
              <a:rPr lang="en-US" sz="1300" dirty="0">
                <a:solidFill>
                  <a:srgbClr val="8FA8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/变现福利</a:t>
            </a:r>
            <a:endParaRPr lang="en-US" sz="1300" dirty="0"/>
          </a:p>
        </p:txBody>
      </p:sp>
      <p:sp>
        <p:nvSpPr>
          <p:cNvPr id="48" name="Text 46"/>
          <p:cNvSpPr/>
          <p:nvPr/>
        </p:nvSpPr>
        <p:spPr>
          <a:xfrm>
            <a:off x="8183880" y="3840480"/>
            <a:ext cx="228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C832"/>
                </a:solidFill>
              </a:rPr>
              <a:t>→</a:t>
            </a:r>
            <a:endParaRPr lang="en-US" sz="3200" dirty="0"/>
          </a:p>
        </p:txBody>
      </p:sp>
      <p:sp>
        <p:nvSpPr>
          <p:cNvPr id="49" name="Shape 47"/>
          <p:cNvSpPr/>
          <p:nvPr/>
        </p:nvSpPr>
        <p:spPr>
          <a:xfrm>
            <a:off x="8412480" y="1828800"/>
            <a:ext cx="3657600" cy="4206240"/>
          </a:xfrm>
          <a:prstGeom prst="roundRect">
            <a:avLst>
              <a:gd name="adj" fmla="val 3750"/>
            </a:avLst>
          </a:prstGeom>
          <a:solidFill>
            <a:srgbClr val="243029"/>
          </a:solidFill>
          <a:ln w="25400">
            <a:solidFill>
              <a:srgbClr val="5B8DB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8412480" y="2011680"/>
            <a:ext cx="3657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600" b="1" dirty="0">
                <a:solidFill>
                  <a:srgbClr val="5B8DB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06</a:t>
            </a:r>
            <a:endParaRPr lang="en-US" sz="5600" dirty="0"/>
          </a:p>
        </p:txBody>
      </p:sp>
      <p:sp>
        <p:nvSpPr>
          <p:cNvPr id="51" name="Text 49"/>
          <p:cNvSpPr/>
          <p:nvPr/>
        </p:nvSpPr>
        <p:spPr>
          <a:xfrm>
            <a:off x="8412480" y="301752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0F5E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福利包</a:t>
            </a:r>
            <a:endParaRPr lang="en-US" sz="2400" dirty="0"/>
          </a:p>
        </p:txBody>
      </p:sp>
      <p:sp>
        <p:nvSpPr>
          <p:cNvPr id="52" name="Text 50"/>
          <p:cNvSpPr/>
          <p:nvPr/>
        </p:nvSpPr>
        <p:spPr>
          <a:xfrm>
            <a:off x="8412480" y="36118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B8DB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兑承诺</a:t>
            </a:r>
            <a:endParaRPr lang="en-US" sz="1400" dirty="0"/>
          </a:p>
        </p:txBody>
      </p:sp>
      <p:sp>
        <p:nvSpPr>
          <p:cNvPr id="53" name="Shape 51"/>
          <p:cNvSpPr/>
          <p:nvPr/>
        </p:nvSpPr>
        <p:spPr>
          <a:xfrm>
            <a:off x="9784080" y="4069080"/>
            <a:ext cx="914400" cy="27432"/>
          </a:xfrm>
          <a:prstGeom prst="rect">
            <a:avLst/>
          </a:prstGeom>
          <a:solidFill>
            <a:srgbClr val="5B8DBE"/>
          </a:solidFill>
          <a:ln w="12700">
            <a:solidFill>
              <a:srgbClr val="5B8DB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8686800" y="4251960"/>
            <a:ext cx="310896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400"/>
              </a:spcBef>
              <a:buNone/>
            </a:pPr>
            <a:r>
              <a:rPr lang="en-US" sz="1300" dirty="0">
                <a:solidFill>
                  <a:srgbClr val="8FA8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做出来 + 标</a:t>
            </a:r>
            <a:endParaRPr lang="en-US" sz="1300" dirty="0"/>
          </a:p>
          <a:p>
            <a:pPr algn="ctr" indent="0" marL="0">
              <a:spcBef>
                <a:spcPts val="400"/>
              </a:spcBef>
              <a:buNone/>
            </a:pPr>
            <a:r>
              <a:rPr lang="en-US" sz="1300" dirty="0">
                <a:solidFill>
                  <a:srgbClr val="8FA8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来源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2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0"/>
          </a:xfrm>
          <a:prstGeom prst="rect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548640"/>
            <a:ext cx="1463040" cy="457200"/>
          </a:xfrm>
          <a:prstGeom prst="rect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548640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0F5E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01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2194560" y="502920"/>
            <a:ext cx="9418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0F5E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定位选题：先知道为谁写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548640" y="1554480"/>
            <a:ext cx="5303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C83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写作前必问 3 个问题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48640" y="2103120"/>
            <a:ext cx="5303520" cy="1097280"/>
          </a:xfrm>
          <a:prstGeom prst="roundRect">
            <a:avLst>
              <a:gd name="adj" fmla="val 8333"/>
            </a:avLst>
          </a:prstGeom>
          <a:solidFill>
            <a:srgbClr val="243029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2103120"/>
            <a:ext cx="7315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2C5F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</a:t>
            </a:r>
            <a:endParaRPr lang="en-US" sz="3600" dirty="0"/>
          </a:p>
        </p:txBody>
      </p:sp>
      <p:sp>
        <p:nvSpPr>
          <p:cNvPr id="10" name="Text 8"/>
          <p:cNvSpPr/>
          <p:nvPr/>
        </p:nvSpPr>
        <p:spPr>
          <a:xfrm>
            <a:off x="1371600" y="2194560"/>
            <a:ext cx="4297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C83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目标读者是谁？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371600" y="2606040"/>
            <a:ext cx="4297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0F5E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画像：年龄 / 身份 / 痛点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0F5E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（不是「所有人」）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3383280"/>
            <a:ext cx="5303520" cy="1097280"/>
          </a:xfrm>
          <a:prstGeom prst="roundRect">
            <a:avLst>
              <a:gd name="adj" fmla="val 8333"/>
            </a:avLst>
          </a:prstGeom>
          <a:solidFill>
            <a:srgbClr val="243029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3383280"/>
            <a:ext cx="7315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2C5F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</a:t>
            </a:r>
            <a:endParaRPr lang="en-US" sz="3600" dirty="0"/>
          </a:p>
        </p:txBody>
      </p:sp>
      <p:sp>
        <p:nvSpPr>
          <p:cNvPr id="14" name="Text 12"/>
          <p:cNvSpPr/>
          <p:nvPr/>
        </p:nvSpPr>
        <p:spPr>
          <a:xfrm>
            <a:off x="1371600" y="3474720"/>
            <a:ext cx="4297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C83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他们卡在哪？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371600" y="3886200"/>
            <a:ext cx="4297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0F5E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个最具体的撞墙场景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0F5E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（用学员原话）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4663440"/>
            <a:ext cx="5303520" cy="1097280"/>
          </a:xfrm>
          <a:prstGeom prst="roundRect">
            <a:avLst>
              <a:gd name="adj" fmla="val 8333"/>
            </a:avLst>
          </a:prstGeom>
          <a:solidFill>
            <a:srgbClr val="243029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" y="4663440"/>
            <a:ext cx="7315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2C5F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</a:t>
            </a:r>
            <a:endParaRPr lang="en-US" sz="3600" dirty="0"/>
          </a:p>
        </p:txBody>
      </p:sp>
      <p:sp>
        <p:nvSpPr>
          <p:cNvPr id="18" name="Text 16"/>
          <p:cNvSpPr/>
          <p:nvPr/>
        </p:nvSpPr>
        <p:spPr>
          <a:xfrm>
            <a:off x="1371600" y="4754880"/>
            <a:ext cx="4297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C83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我能给什么？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371600" y="5166360"/>
            <a:ext cx="4297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0F5E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方法 + 撞墙 + 资源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0F5E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（不是「干货」）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126480" y="155448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C83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选题 5 个来源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6126480" y="2103120"/>
            <a:ext cx="457200" cy="457200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126480" y="21031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🎯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6766560" y="210312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0F5E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学员撞墙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6126480" y="2743200"/>
            <a:ext cx="457200" cy="457200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126480" y="27432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💬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6766560" y="274320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0F5E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评论区高频问题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6126480" y="3383280"/>
            <a:ext cx="457200" cy="457200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126480" y="33832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📒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6766560" y="338328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0F5E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自己日记/复盘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6126480" y="4023360"/>
            <a:ext cx="457200" cy="457200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126480" y="40233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🔥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6766560" y="402336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0F5E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同行爆款拆解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6126480" y="4663440"/>
            <a:ext cx="457200" cy="457200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126480" y="4663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🤔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6766560" y="466344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0F5E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反常识观点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548640" y="6309360"/>
            <a:ext cx="11064240" cy="457200"/>
          </a:xfrm>
          <a:prstGeom prst="rect">
            <a:avLst/>
          </a:prstGeom>
          <a:solidFill>
            <a:srgbClr val="FFC832"/>
          </a:solidFill>
          <a:ln w="12700">
            <a:solidFill>
              <a:srgbClr val="FFC832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48640" y="630936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241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⚡ 选题不用想 — 今天做的事，就是明天的选题。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2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0"/>
          </a:xfrm>
          <a:prstGeom prst="rect">
            <a:avLst/>
          </a:prstGeom>
          <a:solidFill>
            <a:srgbClr val="D49A88"/>
          </a:solidFill>
          <a:ln w="12700">
            <a:solidFill>
              <a:srgbClr val="D49A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D49A88"/>
          </a:solidFill>
          <a:ln w="12700">
            <a:solidFill>
              <a:srgbClr val="D49A8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548640"/>
            <a:ext cx="1645920" cy="457200"/>
          </a:xfrm>
          <a:prstGeom prst="rect">
            <a:avLst/>
          </a:prstGeom>
          <a:solidFill>
            <a:srgbClr val="D49A88"/>
          </a:solidFill>
          <a:ln w="12700">
            <a:solidFill>
              <a:srgbClr val="D49A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54864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241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琪萌案例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2377440" y="502920"/>
            <a:ext cx="9235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0F5E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琪姐的选题来自哪里？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548640" y="1554480"/>
            <a:ext cx="5486400" cy="4480560"/>
          </a:xfrm>
          <a:prstGeom prst="roundRect">
            <a:avLst>
              <a:gd name="adj" fmla="val 3061"/>
            </a:avLst>
          </a:prstGeom>
          <a:solidFill>
            <a:srgbClr val="243029"/>
          </a:solidFill>
          <a:ln w="25400">
            <a:solidFill>
              <a:srgbClr val="D49A8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169164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9A8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琪姐的「今天」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31520" y="2286000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C83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8.9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1691640" y="2423160"/>
            <a:ext cx="36576" cy="274320"/>
          </a:xfrm>
          <a:prstGeom prst="rect">
            <a:avLst/>
          </a:prstGeom>
          <a:solidFill>
            <a:srgbClr val="D49A88"/>
          </a:solidFill>
          <a:ln w="12700">
            <a:solidFill>
              <a:srgbClr val="D49A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828800" y="228600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0F5E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学员视频违规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657600" y="228600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D49A8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学员撞墙 → 公众号选题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31520" y="2999232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C83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8.12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1691640" y="3136392"/>
            <a:ext cx="36576" cy="274320"/>
          </a:xfrm>
          <a:prstGeom prst="rect">
            <a:avLst/>
          </a:prstGeom>
          <a:solidFill>
            <a:srgbClr val="D49A88"/>
          </a:solidFill>
          <a:ln w="12700">
            <a:solidFill>
              <a:srgbClr val="D49A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828800" y="2999232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0F5E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直播答疑首秀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657600" y="2999232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D49A8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实战 → 「3 类客户判断」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731520" y="3712464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C83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8.13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1691640" y="3849624"/>
            <a:ext cx="36576" cy="274320"/>
          </a:xfrm>
          <a:prstGeom prst="rect">
            <a:avLst/>
          </a:prstGeom>
          <a:solidFill>
            <a:srgbClr val="D49A88"/>
          </a:solidFill>
          <a:ln w="12700">
            <a:solidFill>
              <a:srgbClr val="D49A8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828800" y="3712464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0F5E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复盘方法论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3657600" y="3712464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D49A8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反思 → 「听了≠会了」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731520" y="4425696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C83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8.14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1691640" y="4562856"/>
            <a:ext cx="36576" cy="274320"/>
          </a:xfrm>
          <a:prstGeom prst="rect">
            <a:avLst/>
          </a:prstGeom>
          <a:solidFill>
            <a:srgbClr val="D49A88"/>
          </a:solidFill>
          <a:ln w="12700">
            <a:solidFill>
              <a:srgbClr val="D49A8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828800" y="4425696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0F5E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公众号联动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3657600" y="4425696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D49A8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数据复盘 → 「数据起色」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731520" y="5138928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C83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8.15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1691640" y="5276088"/>
            <a:ext cx="36576" cy="274320"/>
          </a:xfrm>
          <a:prstGeom prst="rect">
            <a:avLst/>
          </a:prstGeom>
          <a:solidFill>
            <a:srgbClr val="D49A88"/>
          </a:solidFill>
          <a:ln w="12700">
            <a:solidFill>
              <a:srgbClr val="D49A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828800" y="5138928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0F5E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产品矩阵重构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3657600" y="5138928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D49A8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决策 → 「199→69」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6309360" y="155448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49A8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选题生成 3 步</a:t>
            </a:r>
            <a:endParaRPr lang="en-US" sz="1800" dirty="0"/>
          </a:p>
        </p:txBody>
      </p:sp>
      <p:sp>
        <p:nvSpPr>
          <p:cNvPr id="30" name="Shape 28"/>
          <p:cNvSpPr/>
          <p:nvPr/>
        </p:nvSpPr>
        <p:spPr>
          <a:xfrm>
            <a:off x="6309360" y="2103120"/>
            <a:ext cx="822960" cy="822960"/>
          </a:xfrm>
          <a:prstGeom prst="ellipse">
            <a:avLst/>
          </a:prstGeom>
          <a:solidFill>
            <a:srgbClr val="D49A88"/>
          </a:solidFill>
          <a:ln w="12700">
            <a:solidFill>
              <a:srgbClr val="D49A8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309360" y="210312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41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3200" dirty="0"/>
          </a:p>
        </p:txBody>
      </p:sp>
      <p:sp>
        <p:nvSpPr>
          <p:cNvPr id="32" name="Text 30"/>
          <p:cNvSpPr/>
          <p:nvPr/>
        </p:nvSpPr>
        <p:spPr>
          <a:xfrm>
            <a:off x="7315200" y="21488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0F5E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7315200" y="256032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8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每天写 3 行：今天做了什么、卡在哪、学到什么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6309360" y="3291840"/>
            <a:ext cx="822960" cy="822960"/>
          </a:xfrm>
          <a:prstGeom prst="ellipse">
            <a:avLst/>
          </a:prstGeom>
          <a:solidFill>
            <a:srgbClr val="D49A88"/>
          </a:solidFill>
          <a:ln w="12700">
            <a:solidFill>
              <a:srgbClr val="D49A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309360" y="329184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41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3200" dirty="0"/>
          </a:p>
        </p:txBody>
      </p:sp>
      <p:sp>
        <p:nvSpPr>
          <p:cNvPr id="36" name="Text 34"/>
          <p:cNvSpPr/>
          <p:nvPr/>
        </p:nvSpPr>
        <p:spPr>
          <a:xfrm>
            <a:off x="7315200" y="333756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0F5E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挑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7315200" y="374904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8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用「读者原话」+「自己撞墙」各挑 1 条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6309360" y="4480560"/>
            <a:ext cx="822960" cy="822960"/>
          </a:xfrm>
          <a:prstGeom prst="ellipse">
            <a:avLst/>
          </a:prstGeom>
          <a:solidFill>
            <a:srgbClr val="D49A88"/>
          </a:solidFill>
          <a:ln w="12700">
            <a:solidFill>
              <a:srgbClr val="D49A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309360" y="448056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41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3200" dirty="0"/>
          </a:p>
        </p:txBody>
      </p:sp>
      <p:sp>
        <p:nvSpPr>
          <p:cNvPr id="40" name="Text 38"/>
          <p:cNvSpPr/>
          <p:nvPr/>
        </p:nvSpPr>
        <p:spPr>
          <a:xfrm>
            <a:off x="7315200" y="45262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0F5E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扩</a:t>
            </a:r>
            <a:endParaRPr lang="en-US" sz="1600" dirty="0"/>
          </a:p>
        </p:txBody>
      </p:sp>
      <p:sp>
        <p:nvSpPr>
          <p:cNvPr id="41" name="Text 39"/>
          <p:cNvSpPr/>
          <p:nvPr/>
        </p:nvSpPr>
        <p:spPr>
          <a:xfrm>
            <a:off x="7315200" y="493776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8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标题 3 选 + 钩子 1 句 + 行动 1 步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548640" y="6309360"/>
            <a:ext cx="11064240" cy="457200"/>
          </a:xfrm>
          <a:prstGeom prst="rect">
            <a:avLst/>
          </a:prstGeom>
          <a:solidFill>
            <a:srgbClr val="FFC832"/>
          </a:solidFill>
          <a:ln w="12700">
            <a:solidFill>
              <a:srgbClr val="FFC832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48640" y="630936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241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⚡ 你不需要「想选题」，你只需要「记今天」。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2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0"/>
          </a:xfrm>
          <a:prstGeom prst="rect">
            <a:avLst/>
          </a:prstGeom>
          <a:solidFill>
            <a:srgbClr val="97BC62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97BC62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548640"/>
            <a:ext cx="1463040" cy="457200"/>
          </a:xfrm>
          <a:prstGeom prst="rect">
            <a:avLst/>
          </a:prstGeom>
          <a:solidFill>
            <a:srgbClr val="97BC62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548640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241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02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2194560" y="502920"/>
            <a:ext cx="9418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0F5E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素材整合：真人引流文 vs AI 洗稿文的区别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146304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C83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三合一配比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48640" y="2103120"/>
            <a:ext cx="4978908" cy="640080"/>
          </a:xfrm>
          <a:prstGeom prst="rect">
            <a:avLst/>
          </a:prstGeom>
          <a:solidFill>
            <a:srgbClr val="FFC832"/>
          </a:solidFill>
          <a:ln w="12700">
            <a:solidFill>
              <a:srgbClr val="FFC83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2103120"/>
            <a:ext cx="4978908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241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原文 40-50%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527548" y="2103120"/>
            <a:ext cx="3042666" cy="640080"/>
          </a:xfrm>
          <a:prstGeom prst="rect">
            <a:avLst/>
          </a:prstGeom>
          <a:solidFill>
            <a:srgbClr val="97BC62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527548" y="2103120"/>
            <a:ext cx="3042666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241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笔记 20-30%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570214" y="2103120"/>
            <a:ext cx="3042666" cy="640080"/>
          </a:xfrm>
          <a:prstGeom prst="rect">
            <a:avLst/>
          </a:prstGeom>
          <a:solidFill>
            <a:srgbClr val="D49A88"/>
          </a:solidFill>
          <a:ln w="12700">
            <a:solidFill>
              <a:srgbClr val="D49A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570214" y="2103120"/>
            <a:ext cx="3042666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241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撞墙 20-30%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48640" y="3017520"/>
            <a:ext cx="3657600" cy="2743200"/>
          </a:xfrm>
          <a:prstGeom prst="roundRect">
            <a:avLst>
              <a:gd name="adj" fmla="val 5000"/>
            </a:avLst>
          </a:prstGeom>
          <a:solidFill>
            <a:srgbClr val="243029"/>
          </a:solidFill>
          <a:ln w="25400">
            <a:solidFill>
              <a:srgbClr val="FFC83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1520" y="31546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C83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原文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731520" y="36118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0F5E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公众号原文 40-50%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731520" y="4160520"/>
            <a:ext cx="1371600" cy="27432"/>
          </a:xfrm>
          <a:prstGeom prst="rect">
            <a:avLst/>
          </a:prstGeom>
          <a:solidFill>
            <a:srgbClr val="FFC832"/>
          </a:solidFill>
          <a:ln w="12700">
            <a:solidFill>
              <a:srgbClr val="FFC83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1520" y="4297680"/>
            <a:ext cx="329184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Bef>
                <a:spcPts val="300"/>
              </a:spcBef>
              <a:buNone/>
            </a:pPr>
            <a:r>
              <a:rPr lang="en-US" sz="1200" dirty="0">
                <a:solidFill>
                  <a:srgbClr val="F0F5E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胡子哥直播答疑</a:t>
            </a:r>
            <a:endParaRPr lang="en-US" sz="1200" dirty="0"/>
          </a:p>
          <a:p>
            <a:pPr indent="0" marL="0">
              <a:spcBef>
                <a:spcPts val="300"/>
              </a:spcBef>
              <a:buNone/>
            </a:pPr>
            <a:r>
              <a:rPr lang="en-US" sz="1200" dirty="0">
                <a:solidFill>
                  <a:srgbClr val="F0F5E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Karpathy LLM Wiki</a:t>
            </a:r>
            <a:endParaRPr lang="en-US" sz="1200" dirty="0"/>
          </a:p>
          <a:p>
            <a:pPr indent="0" marL="0">
              <a:spcBef>
                <a:spcPts val="300"/>
              </a:spcBef>
              <a:buNone/>
            </a:pPr>
            <a:r>
              <a:rPr lang="en-US" sz="1200" dirty="0">
                <a:solidFill>
                  <a:srgbClr val="F0F5E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产品配置细节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480560" y="3017520"/>
            <a:ext cx="3657600" cy="2743200"/>
          </a:xfrm>
          <a:prstGeom prst="roundRect">
            <a:avLst>
              <a:gd name="adj" fmla="val 5000"/>
            </a:avLst>
          </a:prstGeom>
          <a:solidFill>
            <a:srgbClr val="243029"/>
          </a:solidFill>
          <a:ln w="25400">
            <a:solidFill>
              <a:srgbClr val="97BC6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663440" y="31546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7BC6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笔记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4663440" y="36118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0F5E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Vault 笔记 20-30%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4663440" y="4160520"/>
            <a:ext cx="1371600" cy="27432"/>
          </a:xfrm>
          <a:prstGeom prst="rect">
            <a:avLst/>
          </a:prstGeom>
          <a:solidFill>
            <a:srgbClr val="97BC62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663440" y="4297680"/>
            <a:ext cx="329184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Bef>
                <a:spcPts val="300"/>
              </a:spcBef>
              <a:buNone/>
            </a:pPr>
            <a:r>
              <a:rPr lang="en-US" sz="1200" dirty="0">
                <a:solidFill>
                  <a:srgbClr val="F0F5E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决策记录</a:t>
            </a:r>
            <a:endParaRPr lang="en-US" sz="1200" dirty="0"/>
          </a:p>
          <a:p>
            <a:pPr indent="0" marL="0">
              <a:spcBef>
                <a:spcPts val="300"/>
              </a:spcBef>
              <a:buNone/>
            </a:pPr>
            <a:r>
              <a:rPr lang="en-US" sz="1200" dirty="0">
                <a:solidFill>
                  <a:srgbClr val="F0F5E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知识卡片</a:t>
            </a:r>
            <a:endParaRPr lang="en-US" sz="1200" dirty="0"/>
          </a:p>
          <a:p>
            <a:pPr indent="0" marL="0">
              <a:spcBef>
                <a:spcPts val="300"/>
              </a:spcBef>
              <a:buNone/>
            </a:pPr>
            <a:r>
              <a:rPr lang="en-US" sz="1200" dirty="0">
                <a:solidFill>
                  <a:srgbClr val="F0F5E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Synthesis 长文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8412480" y="3017520"/>
            <a:ext cx="3657600" cy="2743200"/>
          </a:xfrm>
          <a:prstGeom prst="roundRect">
            <a:avLst>
              <a:gd name="adj" fmla="val 5000"/>
            </a:avLst>
          </a:prstGeom>
          <a:solidFill>
            <a:srgbClr val="243029"/>
          </a:solidFill>
          <a:ln w="25400">
            <a:solidFill>
              <a:srgbClr val="D49A8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595360" y="31546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49A8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撞墙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8595360" y="36118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0F5E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自己撞墙 20-30%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8595360" y="4160520"/>
            <a:ext cx="1371600" cy="27432"/>
          </a:xfrm>
          <a:prstGeom prst="rect">
            <a:avLst/>
          </a:prstGeom>
          <a:solidFill>
            <a:srgbClr val="D49A88"/>
          </a:solidFill>
          <a:ln w="12700">
            <a:solidFill>
              <a:srgbClr val="D49A8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595360" y="4297680"/>
            <a:ext cx="329184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Bef>
                <a:spcPts val="300"/>
              </a:spcBef>
              <a:buNone/>
            </a:pPr>
            <a:r>
              <a:rPr lang="en-US" sz="1200" dirty="0">
                <a:solidFill>
                  <a:srgbClr val="F0F5E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577 播放</a:t>
            </a:r>
            <a:endParaRPr lang="en-US" sz="1200" dirty="0"/>
          </a:p>
          <a:p>
            <a:pPr indent="0" marL="0">
              <a:spcBef>
                <a:spcPts val="300"/>
              </a:spcBef>
              <a:buNone/>
            </a:pPr>
            <a:r>
              <a:rPr lang="en-US" sz="1200" dirty="0">
                <a:solidFill>
                  <a:srgbClr val="F0F5E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通勤 5h 撞墙</a:t>
            </a:r>
            <a:endParaRPr lang="en-US" sz="1200" dirty="0"/>
          </a:p>
          <a:p>
            <a:pPr indent="0" marL="0">
              <a:spcBef>
                <a:spcPts val="300"/>
              </a:spcBef>
              <a:buNone/>
            </a:pPr>
            <a:r>
              <a:rPr lang="en-US" sz="1200" dirty="0">
                <a:solidFill>
                  <a:srgbClr val="F0F5E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138 天心路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548640" y="6309360"/>
            <a:ext cx="11064240" cy="457200"/>
          </a:xfrm>
          <a:prstGeom prst="rect">
            <a:avLst/>
          </a:prstGeom>
          <a:solidFill>
            <a:srgbClr val="FFC832"/>
          </a:solidFill>
          <a:ln w="12700">
            <a:solidFill>
              <a:srgbClr val="FFC832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48640" y="630936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241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⚡ 只转述原文 = 抄观点 / 只写 vault = 学术综述 / 三合一 = 别人写不出来。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2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0"/>
          </a:xfrm>
          <a:prstGeom prst="rect">
            <a:avLst/>
          </a:prstGeom>
          <a:solidFill>
            <a:srgbClr val="FFC832"/>
          </a:solidFill>
          <a:ln w="12700">
            <a:solidFill>
              <a:srgbClr val="FFC83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FFC832"/>
          </a:solidFill>
          <a:ln w="12700">
            <a:solidFill>
              <a:srgbClr val="FFC83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548640"/>
            <a:ext cx="1463040" cy="457200"/>
          </a:xfrm>
          <a:prstGeom prst="rect">
            <a:avLst/>
          </a:prstGeom>
          <a:solidFill>
            <a:srgbClr val="FFC832"/>
          </a:solidFill>
          <a:ln w="12700">
            <a:solidFill>
              <a:srgbClr val="FFC83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548640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241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03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2194560" y="502920"/>
            <a:ext cx="9418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0F5E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写作结构：7 段骨架（口播黄金模板）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548640" y="1554480"/>
            <a:ext cx="2697480" cy="2103120"/>
          </a:xfrm>
          <a:prstGeom prst="roundRect">
            <a:avLst>
              <a:gd name="adj" fmla="val 4348"/>
            </a:avLst>
          </a:prstGeom>
          <a:solidFill>
            <a:srgbClr val="243029"/>
          </a:solidFill>
          <a:ln w="19050">
            <a:solidFill>
              <a:srgbClr val="FFC83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31520" y="1691640"/>
            <a:ext cx="640080" cy="640080"/>
          </a:xfrm>
          <a:prstGeom prst="ellipse">
            <a:avLst/>
          </a:prstGeom>
          <a:solidFill>
            <a:srgbClr val="FFC832"/>
          </a:solidFill>
          <a:ln w="12700">
            <a:solidFill>
              <a:srgbClr val="FFC83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16916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A241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1463040" y="1691640"/>
            <a:ext cx="1737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C83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钩子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463040" y="2057400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FA8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秒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731520" y="2468880"/>
            <a:ext cx="2331720" cy="27432"/>
          </a:xfrm>
          <a:prstGeom prst="rect">
            <a:avLst/>
          </a:prstGeom>
          <a:solidFill>
            <a:srgbClr val="FFC832"/>
          </a:solidFill>
          <a:ln w="12700">
            <a:solidFill>
              <a:srgbClr val="FFC83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1520" y="2560320"/>
            <a:ext cx="233172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Bef>
                <a:spcPts val="300"/>
              </a:spcBef>
              <a:buNone/>
            </a:pPr>
            <a:r>
              <a:rPr lang="en-US" sz="1000" dirty="0">
                <a:solidFill>
                  <a:srgbClr val="F0F5E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数字 / 反常识 / 痛点共鸣</a:t>
            </a:r>
            <a:endParaRPr lang="en-US" sz="1000" dirty="0"/>
          </a:p>
          <a:p>
            <a:pPr indent="0" marL="0">
              <a:spcBef>
                <a:spcPts val="300"/>
              </a:spcBef>
              <a:buNone/>
            </a:pPr>
            <a:r>
              <a:rPr lang="en-US" sz="1000" dirty="0">
                <a:solidFill>
                  <a:srgbClr val="F0F5E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「我和你一样」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429000" y="1554480"/>
            <a:ext cx="2697480" cy="2103120"/>
          </a:xfrm>
          <a:prstGeom prst="roundRect">
            <a:avLst>
              <a:gd name="adj" fmla="val 4348"/>
            </a:avLst>
          </a:prstGeom>
          <a:solidFill>
            <a:srgbClr val="243029"/>
          </a:solidFill>
          <a:ln w="19050">
            <a:solidFill>
              <a:srgbClr val="FFC83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11880" y="1691640"/>
            <a:ext cx="640080" cy="640080"/>
          </a:xfrm>
          <a:prstGeom prst="ellipse">
            <a:avLst/>
          </a:prstGeom>
          <a:solidFill>
            <a:srgbClr val="FFC832"/>
          </a:solidFill>
          <a:ln w="12700">
            <a:solidFill>
              <a:srgbClr val="FFC83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11880" y="16916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A241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4343400" y="1691640"/>
            <a:ext cx="1737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C83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PROBLEM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343400" y="2057400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FA8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30 秒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611880" y="2468880"/>
            <a:ext cx="2331720" cy="27432"/>
          </a:xfrm>
          <a:prstGeom prst="rect">
            <a:avLst/>
          </a:prstGeom>
          <a:solidFill>
            <a:srgbClr val="FFC832"/>
          </a:solidFill>
          <a:ln w="12700">
            <a:solidFill>
              <a:srgbClr val="FFC83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11880" y="2560320"/>
            <a:ext cx="233172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Bef>
                <a:spcPts val="300"/>
              </a:spcBef>
              <a:buNone/>
            </a:pPr>
            <a:r>
              <a:rPr lang="en-US" sz="1000" dirty="0">
                <a:solidFill>
                  <a:srgbClr val="F0F5E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读者撞墙场景</a:t>
            </a:r>
            <a:endParaRPr lang="en-US" sz="1000" dirty="0"/>
          </a:p>
          <a:p>
            <a:pPr indent="0" marL="0">
              <a:spcBef>
                <a:spcPts val="300"/>
              </a:spcBef>
              <a:buNone/>
            </a:pPr>
            <a:r>
              <a:rPr lang="en-US" sz="1000" dirty="0">
                <a:solidFill>
                  <a:srgbClr val="F0F5E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越具体越好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309360" y="1554480"/>
            <a:ext cx="2697480" cy="2103120"/>
          </a:xfrm>
          <a:prstGeom prst="roundRect">
            <a:avLst>
              <a:gd name="adj" fmla="val 4348"/>
            </a:avLst>
          </a:prstGeom>
          <a:solidFill>
            <a:srgbClr val="243029"/>
          </a:solidFill>
          <a:ln w="19050">
            <a:solidFill>
              <a:srgbClr val="FFC83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492240" y="1691640"/>
            <a:ext cx="640080" cy="640080"/>
          </a:xfrm>
          <a:prstGeom prst="ellipse">
            <a:avLst/>
          </a:prstGeom>
          <a:solidFill>
            <a:srgbClr val="FFC832"/>
          </a:solidFill>
          <a:ln w="12700">
            <a:solidFill>
              <a:srgbClr val="FFC832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92240" y="16916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A241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7223760" y="1691640"/>
            <a:ext cx="1737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C83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故事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7223760" y="2057400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FA8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60-90 秒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6492240" y="2468880"/>
            <a:ext cx="2331720" cy="27432"/>
          </a:xfrm>
          <a:prstGeom prst="rect">
            <a:avLst/>
          </a:prstGeom>
          <a:solidFill>
            <a:srgbClr val="FFC832"/>
          </a:solidFill>
          <a:ln w="12700">
            <a:solidFill>
              <a:srgbClr val="FFC832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92240" y="2560320"/>
            <a:ext cx="233172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Bef>
                <a:spcPts val="300"/>
              </a:spcBef>
              <a:buNone/>
            </a:pPr>
            <a:r>
              <a:rPr lang="en-US" sz="1000" dirty="0">
                <a:solidFill>
                  <a:srgbClr val="F0F5E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真实撞墙案例</a:t>
            </a:r>
            <a:endParaRPr lang="en-US" sz="1000" dirty="0"/>
          </a:p>
          <a:p>
            <a:pPr indent="0" marL="0">
              <a:spcBef>
                <a:spcPts val="300"/>
              </a:spcBef>
              <a:buNone/>
            </a:pPr>
            <a:r>
              <a:rPr lang="en-US" sz="1000" dirty="0">
                <a:solidFill>
                  <a:srgbClr val="F0F5E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不是鸡汤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9189720" y="1554480"/>
            <a:ext cx="2697480" cy="2103120"/>
          </a:xfrm>
          <a:prstGeom prst="roundRect">
            <a:avLst>
              <a:gd name="adj" fmla="val 4348"/>
            </a:avLst>
          </a:prstGeom>
          <a:solidFill>
            <a:srgbClr val="243029"/>
          </a:solidFill>
          <a:ln w="19050">
            <a:solidFill>
              <a:srgbClr val="FFC832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372600" y="1691640"/>
            <a:ext cx="640080" cy="640080"/>
          </a:xfrm>
          <a:prstGeom prst="ellipse">
            <a:avLst/>
          </a:prstGeom>
          <a:solidFill>
            <a:srgbClr val="FFC832"/>
          </a:solidFill>
          <a:ln w="12700">
            <a:solidFill>
              <a:srgbClr val="FFC832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372600" y="16916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A241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2200" dirty="0"/>
          </a:p>
        </p:txBody>
      </p:sp>
      <p:sp>
        <p:nvSpPr>
          <p:cNvPr id="31" name="Text 29"/>
          <p:cNvSpPr/>
          <p:nvPr/>
        </p:nvSpPr>
        <p:spPr>
          <a:xfrm>
            <a:off x="10104120" y="1691640"/>
            <a:ext cx="1737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C83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洞见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10104120" y="2057400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FA8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20-30 秒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9372600" y="2468880"/>
            <a:ext cx="2331720" cy="27432"/>
          </a:xfrm>
          <a:prstGeom prst="rect">
            <a:avLst/>
          </a:prstGeom>
          <a:solidFill>
            <a:srgbClr val="FFC832"/>
          </a:solidFill>
          <a:ln w="12700">
            <a:solidFill>
              <a:srgbClr val="FFC832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372600" y="2560320"/>
            <a:ext cx="233172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Bef>
                <a:spcPts val="300"/>
              </a:spcBef>
              <a:buNone/>
            </a:pPr>
            <a:r>
              <a:rPr lang="en-US" sz="1000" dirty="0">
                <a:solidFill>
                  <a:srgbClr val="F0F5E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一句话观点</a:t>
            </a:r>
            <a:endParaRPr lang="en-US" sz="1000" dirty="0"/>
          </a:p>
          <a:p>
            <a:pPr indent="0" marL="0">
              <a:spcBef>
                <a:spcPts val="300"/>
              </a:spcBef>
              <a:buNone/>
            </a:pPr>
            <a:r>
              <a:rPr lang="en-US" sz="1000" dirty="0">
                <a:solidFill>
                  <a:srgbClr val="F0F5E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别用「赋能」包装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548640" y="3931920"/>
            <a:ext cx="2697480" cy="2103120"/>
          </a:xfrm>
          <a:prstGeom prst="roundRect">
            <a:avLst>
              <a:gd name="adj" fmla="val 4348"/>
            </a:avLst>
          </a:prstGeom>
          <a:solidFill>
            <a:srgbClr val="243029"/>
          </a:solidFill>
          <a:ln w="19050">
            <a:solidFill>
              <a:srgbClr val="FFC832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31520" y="4069080"/>
            <a:ext cx="640080" cy="640080"/>
          </a:xfrm>
          <a:prstGeom prst="ellipse">
            <a:avLst/>
          </a:prstGeom>
          <a:solidFill>
            <a:srgbClr val="FFC832"/>
          </a:solidFill>
          <a:ln w="12700">
            <a:solidFill>
              <a:srgbClr val="FFC832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31520" y="406908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A241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2200" dirty="0"/>
          </a:p>
        </p:txBody>
      </p:sp>
      <p:sp>
        <p:nvSpPr>
          <p:cNvPr id="38" name="Text 36"/>
          <p:cNvSpPr/>
          <p:nvPr/>
        </p:nvSpPr>
        <p:spPr>
          <a:xfrm>
            <a:off x="1463040" y="4069080"/>
            <a:ext cx="1737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C83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迁移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1463040" y="4434840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FA8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30-45 秒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731520" y="4846320"/>
            <a:ext cx="2331720" cy="27432"/>
          </a:xfrm>
          <a:prstGeom prst="rect">
            <a:avLst/>
          </a:prstGeom>
          <a:solidFill>
            <a:srgbClr val="FFC832"/>
          </a:solidFill>
          <a:ln w="12700">
            <a:solidFill>
              <a:srgbClr val="FFC832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31520" y="4937760"/>
            <a:ext cx="233172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Bef>
                <a:spcPts val="300"/>
              </a:spcBef>
              <a:buNone/>
            </a:pPr>
            <a:r>
              <a:rPr lang="en-US" sz="1000" dirty="0">
                <a:solidFill>
                  <a:srgbClr val="F0F5E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对标其他场景</a:t>
            </a:r>
            <a:endParaRPr lang="en-US" sz="1000" dirty="0"/>
          </a:p>
          <a:p>
            <a:pPr indent="0" marL="0">
              <a:spcBef>
                <a:spcPts val="300"/>
              </a:spcBef>
              <a:buNone/>
            </a:pPr>
            <a:r>
              <a:rPr lang="en-US" sz="1000" dirty="0">
                <a:solidFill>
                  <a:srgbClr val="F0F5E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给读者代入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3429000" y="3931920"/>
            <a:ext cx="2697480" cy="2103120"/>
          </a:xfrm>
          <a:prstGeom prst="roundRect">
            <a:avLst>
              <a:gd name="adj" fmla="val 4348"/>
            </a:avLst>
          </a:prstGeom>
          <a:solidFill>
            <a:srgbClr val="243029"/>
          </a:solidFill>
          <a:ln w="19050">
            <a:solidFill>
              <a:srgbClr val="FFC832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3611880" y="4069080"/>
            <a:ext cx="640080" cy="640080"/>
          </a:xfrm>
          <a:prstGeom prst="ellipse">
            <a:avLst/>
          </a:prstGeom>
          <a:solidFill>
            <a:srgbClr val="FFC832"/>
          </a:solidFill>
          <a:ln w="12700">
            <a:solidFill>
              <a:srgbClr val="FFC832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11880" y="406908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A241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2200" dirty="0"/>
          </a:p>
        </p:txBody>
      </p:sp>
      <p:sp>
        <p:nvSpPr>
          <p:cNvPr id="45" name="Text 43"/>
          <p:cNvSpPr/>
          <p:nvPr/>
        </p:nvSpPr>
        <p:spPr>
          <a:xfrm>
            <a:off x="4343400" y="4069080"/>
            <a:ext cx="1737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C83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行动</a:t>
            </a:r>
            <a:endParaRPr lang="en-US" sz="1400" dirty="0"/>
          </a:p>
        </p:txBody>
      </p:sp>
      <p:sp>
        <p:nvSpPr>
          <p:cNvPr id="46" name="Text 44"/>
          <p:cNvSpPr/>
          <p:nvPr/>
        </p:nvSpPr>
        <p:spPr>
          <a:xfrm>
            <a:off x="4343400" y="4434840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FA8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15-20 秒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3611880" y="4846320"/>
            <a:ext cx="2331720" cy="27432"/>
          </a:xfrm>
          <a:prstGeom prst="rect">
            <a:avLst/>
          </a:prstGeom>
          <a:solidFill>
            <a:srgbClr val="FFC832"/>
          </a:solidFill>
          <a:ln w="12700">
            <a:solidFill>
              <a:srgbClr val="FFC832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611880" y="4937760"/>
            <a:ext cx="233172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Bef>
                <a:spcPts val="300"/>
              </a:spcBef>
              <a:buNone/>
            </a:pPr>
            <a:r>
              <a:rPr lang="en-US" sz="1000" dirty="0">
                <a:solidFill>
                  <a:srgbClr val="F0F5E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三件套 / 三步</a:t>
            </a:r>
            <a:endParaRPr lang="en-US" sz="1000" dirty="0"/>
          </a:p>
          <a:p>
            <a:pPr indent="0" marL="0">
              <a:spcBef>
                <a:spcPts val="300"/>
              </a:spcBef>
              <a:buNone/>
            </a:pPr>
            <a:r>
              <a:rPr lang="en-US" sz="1000" dirty="0">
                <a:solidFill>
                  <a:srgbClr val="F0F5E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可记忆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6309360" y="3931920"/>
            <a:ext cx="2697480" cy="2103120"/>
          </a:xfrm>
          <a:prstGeom prst="roundRect">
            <a:avLst>
              <a:gd name="adj" fmla="val 4348"/>
            </a:avLst>
          </a:prstGeom>
          <a:solidFill>
            <a:srgbClr val="243029"/>
          </a:solidFill>
          <a:ln w="19050">
            <a:solidFill>
              <a:srgbClr val="FFC832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6492240" y="4069080"/>
            <a:ext cx="640080" cy="640080"/>
          </a:xfrm>
          <a:prstGeom prst="ellipse">
            <a:avLst/>
          </a:prstGeom>
          <a:solidFill>
            <a:srgbClr val="FFC832"/>
          </a:solidFill>
          <a:ln w="12700">
            <a:solidFill>
              <a:srgbClr val="FFC832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492240" y="406908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A241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</a:t>
            </a:r>
            <a:endParaRPr lang="en-US" sz="2200" dirty="0"/>
          </a:p>
        </p:txBody>
      </p:sp>
      <p:sp>
        <p:nvSpPr>
          <p:cNvPr id="52" name="Text 50"/>
          <p:cNvSpPr/>
          <p:nvPr/>
        </p:nvSpPr>
        <p:spPr>
          <a:xfrm>
            <a:off x="7223760" y="4069080"/>
            <a:ext cx="1737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C83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收尾</a:t>
            </a:r>
            <a:endParaRPr lang="en-US" sz="1400" dirty="0"/>
          </a:p>
        </p:txBody>
      </p:sp>
      <p:sp>
        <p:nvSpPr>
          <p:cNvPr id="53" name="Text 51"/>
          <p:cNvSpPr/>
          <p:nvPr/>
        </p:nvSpPr>
        <p:spPr>
          <a:xfrm>
            <a:off x="7223760" y="4434840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FA8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10-15 秒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6492240" y="4846320"/>
            <a:ext cx="2331720" cy="27432"/>
          </a:xfrm>
          <a:prstGeom prst="rect">
            <a:avLst/>
          </a:prstGeom>
          <a:solidFill>
            <a:srgbClr val="FFC832"/>
          </a:solidFill>
          <a:ln w="12700">
            <a:solidFill>
              <a:srgbClr val="FFC832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492240" y="4937760"/>
            <a:ext cx="233172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Bef>
                <a:spcPts val="300"/>
              </a:spcBef>
              <a:buNone/>
            </a:pPr>
            <a:r>
              <a:rPr lang="en-US" sz="1000" dirty="0">
                <a:solidFill>
                  <a:srgbClr val="F0F5E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金句 + 关注</a:t>
            </a:r>
            <a:endParaRPr lang="en-US" sz="1000" dirty="0"/>
          </a:p>
          <a:p>
            <a:pPr indent="0" marL="0">
              <a:spcBef>
                <a:spcPts val="300"/>
              </a:spcBef>
              <a:buNone/>
            </a:pPr>
            <a:r>
              <a:rPr lang="en-US" sz="1000" dirty="0">
                <a:solidFill>
                  <a:srgbClr val="F0F5E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被 动收尾</a:t>
            </a:r>
            <a:endParaRPr lang="en-US" sz="1000" dirty="0"/>
          </a:p>
        </p:txBody>
      </p:sp>
      <p:sp>
        <p:nvSpPr>
          <p:cNvPr id="56" name="Shape 54"/>
          <p:cNvSpPr/>
          <p:nvPr/>
        </p:nvSpPr>
        <p:spPr>
          <a:xfrm>
            <a:off x="548640" y="6309360"/>
            <a:ext cx="11064240" cy="457200"/>
          </a:xfrm>
          <a:prstGeom prst="rect">
            <a:avLst/>
          </a:prstGeom>
          <a:solidFill>
            <a:srgbClr val="FFC832"/>
          </a:solidFill>
          <a:ln w="12700">
            <a:solidFill>
              <a:srgbClr val="FFC832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548640" y="630936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241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⚡ 钩子抓眼球 → 故事抓信任 → 行动抓转化。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2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0"/>
          </a:xfrm>
          <a:prstGeom prst="rect">
            <a:avLst/>
          </a:prstGeom>
          <a:solidFill>
            <a:srgbClr val="FFC832"/>
          </a:solidFill>
          <a:ln w="12700">
            <a:solidFill>
              <a:srgbClr val="FFC83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FFC832"/>
          </a:solidFill>
          <a:ln w="12700">
            <a:solidFill>
              <a:srgbClr val="FFC83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45720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0F5E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开头 3 秒决定看不看完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48640" y="109728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FFC83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 种钩子，不要每篇都用同一种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1691640"/>
            <a:ext cx="11064240" cy="822960"/>
          </a:xfrm>
          <a:prstGeom prst="roundRect">
            <a:avLst>
              <a:gd name="adj" fmla="val 8889"/>
            </a:avLst>
          </a:prstGeom>
          <a:solidFill>
            <a:srgbClr val="243029"/>
          </a:solidFill>
          <a:ln w="19050">
            <a:solidFill>
              <a:srgbClr val="FFC83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69164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000000"/>
                </a:solidFill>
              </a:rPr>
              <a:t>🔢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1554480" y="1691640"/>
            <a:ext cx="1828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C83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数字锚点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474720" y="1874520"/>
            <a:ext cx="36576" cy="457200"/>
          </a:xfrm>
          <a:prstGeom prst="rect">
            <a:avLst/>
          </a:prstGeom>
          <a:solidFill>
            <a:srgbClr val="FFC832"/>
          </a:solidFill>
          <a:ln w="12700">
            <a:solidFill>
              <a:srgbClr val="FFC83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57600" y="1691640"/>
            <a:ext cx="7863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0F5E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「我用 45 天把 577 播放做到稳定 1000+」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2606040"/>
            <a:ext cx="11064240" cy="822960"/>
          </a:xfrm>
          <a:prstGeom prst="roundRect">
            <a:avLst>
              <a:gd name="adj" fmla="val 8889"/>
            </a:avLst>
          </a:prstGeom>
          <a:solidFill>
            <a:srgbClr val="243029"/>
          </a:solidFill>
          <a:ln w="19050">
            <a:solidFill>
              <a:srgbClr val="D49A8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260604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000000"/>
                </a:solidFill>
              </a:rPr>
              <a:t>🤯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1554480" y="2606040"/>
            <a:ext cx="1828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49A8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反常识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3474720" y="2788920"/>
            <a:ext cx="36576" cy="457200"/>
          </a:xfrm>
          <a:prstGeom prst="rect">
            <a:avLst/>
          </a:prstGeom>
          <a:solidFill>
            <a:srgbClr val="D49A88"/>
          </a:solidFill>
          <a:ln w="12700">
            <a:solidFill>
              <a:srgbClr val="D49A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0" y="2606040"/>
            <a:ext cx="7863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0F5E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「公众号不是写给所有人看的」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3520440"/>
            <a:ext cx="11064240" cy="822960"/>
          </a:xfrm>
          <a:prstGeom prst="roundRect">
            <a:avLst>
              <a:gd name="adj" fmla="val 8889"/>
            </a:avLst>
          </a:prstGeom>
          <a:solidFill>
            <a:srgbClr val="243029"/>
          </a:solidFill>
          <a:ln w="19050">
            <a:solidFill>
              <a:srgbClr val="C4454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" y="352044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000000"/>
                </a:solidFill>
              </a:rPr>
              <a:t>💔</a:t>
            </a:r>
            <a:endParaRPr lang="en-US" sz="3200" dirty="0"/>
          </a:p>
        </p:txBody>
      </p:sp>
      <p:sp>
        <p:nvSpPr>
          <p:cNvPr id="18" name="Text 16"/>
          <p:cNvSpPr/>
          <p:nvPr/>
        </p:nvSpPr>
        <p:spPr>
          <a:xfrm>
            <a:off x="1554480" y="3520440"/>
            <a:ext cx="1828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445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痛点共鸣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3474720" y="3703320"/>
            <a:ext cx="36576" cy="457200"/>
          </a:xfrm>
          <a:prstGeom prst="rect">
            <a:avLst/>
          </a:prstGeom>
          <a:solidFill>
            <a:srgbClr val="C44545"/>
          </a:solidFill>
          <a:ln w="12700">
            <a:solidFill>
              <a:srgbClr val="C4454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0" y="3520440"/>
            <a:ext cx="7863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0F5E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「我帮学员沟通了 2 小时，她第二天还问」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48640" y="4434840"/>
            <a:ext cx="11064240" cy="822960"/>
          </a:xfrm>
          <a:prstGeom prst="roundRect">
            <a:avLst>
              <a:gd name="adj" fmla="val 8889"/>
            </a:avLst>
          </a:prstGeom>
          <a:solidFill>
            <a:srgbClr val="243029"/>
          </a:solidFill>
          <a:ln w="19050">
            <a:solidFill>
              <a:srgbClr val="D4A84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080" y="443484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000000"/>
                </a:solidFill>
              </a:rPr>
              <a:t>🎬</a:t>
            </a:r>
            <a:endParaRPr lang="en-US" sz="3200" dirty="0"/>
          </a:p>
        </p:txBody>
      </p:sp>
      <p:sp>
        <p:nvSpPr>
          <p:cNvPr id="23" name="Text 21"/>
          <p:cNvSpPr/>
          <p:nvPr/>
        </p:nvSpPr>
        <p:spPr>
          <a:xfrm>
            <a:off x="1554480" y="4434840"/>
            <a:ext cx="1828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4A8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故事悬念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3474720" y="4617720"/>
            <a:ext cx="36576" cy="457200"/>
          </a:xfrm>
          <a:prstGeom prst="rect">
            <a:avLst/>
          </a:prstGeom>
          <a:solidFill>
            <a:srgbClr val="D4A845"/>
          </a:solidFill>
          <a:ln w="12700">
            <a:solidFill>
              <a:srgbClr val="D4A84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0" y="4434840"/>
            <a:ext cx="7863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0F5E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「8 月 7 号那天，一个学员的反馈让我坐一晚上」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48640" y="5349240"/>
            <a:ext cx="11064240" cy="822960"/>
          </a:xfrm>
          <a:prstGeom prst="roundRect">
            <a:avLst>
              <a:gd name="adj" fmla="val 8889"/>
            </a:avLst>
          </a:prstGeom>
          <a:solidFill>
            <a:srgbClr val="243029"/>
          </a:solidFill>
          <a:ln w="19050">
            <a:solidFill>
              <a:srgbClr val="97BC62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534924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000000"/>
                </a:solidFill>
              </a:rPr>
              <a:t>⚡</a:t>
            </a:r>
            <a:endParaRPr lang="en-US" sz="3200" dirty="0"/>
          </a:p>
        </p:txBody>
      </p:sp>
      <p:sp>
        <p:nvSpPr>
          <p:cNvPr id="28" name="Text 26"/>
          <p:cNvSpPr/>
          <p:nvPr/>
        </p:nvSpPr>
        <p:spPr>
          <a:xfrm>
            <a:off x="1554480" y="5349240"/>
            <a:ext cx="1828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7BC6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金句开场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3474720" y="5532120"/>
            <a:ext cx="36576" cy="457200"/>
          </a:xfrm>
          <a:prstGeom prst="rect">
            <a:avLst/>
          </a:prstGeom>
          <a:solidFill>
            <a:srgbClr val="97BC62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0" y="5349240"/>
            <a:ext cx="7863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0F5E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「变现是在做的过程中长出来的」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A2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0"/>
          </a:xfrm>
          <a:prstGeom prst="rect">
            <a:avLst/>
          </a:prstGeom>
          <a:solidFill>
            <a:srgbClr val="D4A845"/>
          </a:solidFill>
          <a:ln w="12700">
            <a:solidFill>
              <a:srgbClr val="D4A84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D4A845"/>
          </a:solidFill>
          <a:ln w="12700">
            <a:solidFill>
              <a:srgbClr val="D4A84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548640"/>
            <a:ext cx="1463040" cy="457200"/>
          </a:xfrm>
          <a:prstGeom prst="rect">
            <a:avLst/>
          </a:prstGeom>
          <a:solidFill>
            <a:srgbClr val="D4A845"/>
          </a:solidFill>
          <a:ln w="12700">
            <a:solidFill>
              <a:srgbClr val="D4A84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548640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241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04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2194560" y="502920"/>
            <a:ext cx="9418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0F5E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排版发布：把 45 分钟压到 5 分钟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1554480"/>
            <a:ext cx="5303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4A8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排版 3 条铁律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48640" y="2103120"/>
            <a:ext cx="5303520" cy="685800"/>
          </a:xfrm>
          <a:prstGeom prst="roundRect">
            <a:avLst>
              <a:gd name="adj" fmla="val 10667"/>
            </a:avLst>
          </a:prstGeom>
          <a:solidFill>
            <a:srgbClr val="243029"/>
          </a:solidFill>
          <a:ln w="12700">
            <a:solidFill>
              <a:srgbClr val="D4A84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85800" y="2194560"/>
            <a:ext cx="502920" cy="502920"/>
          </a:xfrm>
          <a:prstGeom prst="ellipse">
            <a:avLst/>
          </a:prstGeom>
          <a:solidFill>
            <a:srgbClr val="D4A845"/>
          </a:solidFill>
          <a:ln w="12700">
            <a:solidFill>
              <a:srgbClr val="D4A84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5800" y="219456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A241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325880" y="2103120"/>
            <a:ext cx="44348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0F5E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字号统一：标题 22 / 正文 16 / 注释 12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2880360"/>
            <a:ext cx="5303520" cy="685800"/>
          </a:xfrm>
          <a:prstGeom prst="roundRect">
            <a:avLst>
              <a:gd name="adj" fmla="val 10667"/>
            </a:avLst>
          </a:prstGeom>
          <a:solidFill>
            <a:srgbClr val="243029"/>
          </a:solidFill>
          <a:ln w="12700">
            <a:solidFill>
              <a:srgbClr val="D4A84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85800" y="2971800"/>
            <a:ext cx="502920" cy="502920"/>
          </a:xfrm>
          <a:prstGeom prst="ellipse">
            <a:avLst/>
          </a:prstGeom>
          <a:solidFill>
            <a:srgbClr val="D4A845"/>
          </a:solidFill>
          <a:ln w="12700">
            <a:solidFill>
              <a:srgbClr val="D4A84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85800" y="29718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A241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1325880" y="2880360"/>
            <a:ext cx="44348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0F5E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段间距固定：1.5 倍行距 + 段后 1 空行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3657600"/>
            <a:ext cx="5303520" cy="685800"/>
          </a:xfrm>
          <a:prstGeom prst="roundRect">
            <a:avLst>
              <a:gd name="adj" fmla="val 10667"/>
            </a:avLst>
          </a:prstGeom>
          <a:solidFill>
            <a:srgbClr val="243029"/>
          </a:solidFill>
          <a:ln w="12700">
            <a:solidFill>
              <a:srgbClr val="D4A84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85800" y="3749040"/>
            <a:ext cx="502920" cy="502920"/>
          </a:xfrm>
          <a:prstGeom prst="ellipse">
            <a:avLst/>
          </a:prstGeom>
          <a:solidFill>
            <a:srgbClr val="D4A845"/>
          </a:solidFill>
          <a:ln w="12700">
            <a:solidFill>
              <a:srgbClr val="D4A84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85800" y="374904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A241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1325880" y="3657600"/>
            <a:ext cx="44348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0F5E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强调只两种：加粗 + 引用块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126480" y="155448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4A8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工具流水线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6126480" y="2103120"/>
            <a:ext cx="5486400" cy="548640"/>
          </a:xfrm>
          <a:prstGeom prst="rect">
            <a:avLst/>
          </a:prstGeom>
          <a:solidFill>
            <a:srgbClr val="243029"/>
          </a:solidFill>
          <a:ln w="12700">
            <a:solidFill>
              <a:srgbClr val="D4A84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217920" y="2194560"/>
            <a:ext cx="365760" cy="365760"/>
          </a:xfrm>
          <a:prstGeom prst="ellipse">
            <a:avLst/>
          </a:prstGeom>
          <a:solidFill>
            <a:srgbClr val="D4A845"/>
          </a:solidFill>
          <a:ln w="12700">
            <a:solidFill>
              <a:srgbClr val="D4A84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217920" y="219456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241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720840" y="210312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8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飞书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8595360" y="2103120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0F5E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写稿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126480" y="2743200"/>
            <a:ext cx="5486400" cy="548640"/>
          </a:xfrm>
          <a:prstGeom prst="rect">
            <a:avLst/>
          </a:prstGeom>
          <a:solidFill>
            <a:srgbClr val="243029"/>
          </a:solidFill>
          <a:ln w="12700">
            <a:solidFill>
              <a:srgbClr val="D4A845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217920" y="2834640"/>
            <a:ext cx="365760" cy="365760"/>
          </a:xfrm>
          <a:prstGeom prst="ellipse">
            <a:avLst/>
          </a:prstGeom>
          <a:solidFill>
            <a:srgbClr val="D4A845"/>
          </a:solidFill>
          <a:ln w="12700">
            <a:solidFill>
              <a:srgbClr val="D4A845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217920" y="28346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241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6720840" y="274320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8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Markdown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8595360" y="2743200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0F5E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排版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6126480" y="3383280"/>
            <a:ext cx="5486400" cy="548640"/>
          </a:xfrm>
          <a:prstGeom prst="rect">
            <a:avLst/>
          </a:prstGeom>
          <a:solidFill>
            <a:srgbClr val="243029"/>
          </a:solidFill>
          <a:ln w="12700">
            <a:solidFill>
              <a:srgbClr val="D4A845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217920" y="3474720"/>
            <a:ext cx="365760" cy="365760"/>
          </a:xfrm>
          <a:prstGeom prst="ellipse">
            <a:avLst/>
          </a:prstGeom>
          <a:solidFill>
            <a:srgbClr val="D4A845"/>
          </a:solidFill>
          <a:ln w="12700">
            <a:solidFill>
              <a:srgbClr val="D4A845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217920" y="347472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241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720840" y="338328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8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智能体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8595360" y="3383280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0F5E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转换 HTML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6126480" y="4023360"/>
            <a:ext cx="5486400" cy="548640"/>
          </a:xfrm>
          <a:prstGeom prst="rect">
            <a:avLst/>
          </a:prstGeom>
          <a:solidFill>
            <a:srgbClr val="243029"/>
          </a:solidFill>
          <a:ln w="12700">
            <a:solidFill>
              <a:srgbClr val="D4A845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217920" y="4114800"/>
            <a:ext cx="365760" cy="365760"/>
          </a:xfrm>
          <a:prstGeom prst="ellipse">
            <a:avLst/>
          </a:prstGeom>
          <a:solidFill>
            <a:srgbClr val="D4A845"/>
          </a:solidFill>
          <a:ln w="12700">
            <a:solidFill>
              <a:srgbClr val="D4A845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217920" y="411480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241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720840" y="402336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8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公众号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8595360" y="4023360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0F5E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推草稿箱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548640" y="6309360"/>
            <a:ext cx="11064240" cy="457200"/>
          </a:xfrm>
          <a:prstGeom prst="rect">
            <a:avLst/>
          </a:prstGeom>
          <a:solidFill>
            <a:srgbClr val="FFC832"/>
          </a:solidFill>
          <a:ln w="12700">
            <a:solidFill>
              <a:srgbClr val="FFC832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48640" y="630936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241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⚡ 真正的阅读体验 — 让读者忘了排版的存在。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A2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0"/>
          </a:xfrm>
          <a:prstGeom prst="rect">
            <a:avLst/>
          </a:prstGeom>
          <a:solidFill>
            <a:srgbClr val="D49A88"/>
          </a:solidFill>
          <a:ln w="12700">
            <a:solidFill>
              <a:srgbClr val="D49A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D49A88"/>
          </a:solidFill>
          <a:ln w="12700">
            <a:solidFill>
              <a:srgbClr val="D49A8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548640"/>
            <a:ext cx="1463040" cy="457200"/>
          </a:xfrm>
          <a:prstGeom prst="rect">
            <a:avLst/>
          </a:prstGeom>
          <a:solidFill>
            <a:srgbClr val="D49A88"/>
          </a:solidFill>
          <a:ln w="12700">
            <a:solidFill>
              <a:srgbClr val="D49A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548640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241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05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2194560" y="502920"/>
            <a:ext cx="9418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0F5E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钩子设计：5 型轮换，不重复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11064240" cy="822960"/>
          </a:xfrm>
          <a:prstGeom prst="roundRect">
            <a:avLst>
              <a:gd name="adj" fmla="val 8889"/>
            </a:avLst>
          </a:prstGeom>
          <a:solidFill>
            <a:srgbClr val="243029"/>
          </a:solidFill>
          <a:ln w="19050">
            <a:solidFill>
              <a:srgbClr val="2C5F2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691640"/>
            <a:ext cx="1188720" cy="822960"/>
          </a:xfrm>
          <a:prstGeom prst="rect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1691640"/>
            <a:ext cx="1188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A241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1920240" y="178308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工具教程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920240" y="214884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FA8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例：WorkBuddy 自动化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0" y="1874520"/>
            <a:ext cx="36576" cy="457200"/>
          </a:xfrm>
          <a:prstGeom prst="rect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54880" y="169164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0F5E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钩子：工具福利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754880" y="210312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FFC83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关键词：「公众号」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8138160" y="1874520"/>
            <a:ext cx="36576" cy="457200"/>
          </a:xfrm>
          <a:prstGeom prst="rect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321040" y="1691640"/>
            <a:ext cx="3200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FA8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字数 2800-3200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8FA8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（复杂可到 4000+）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48640" y="2606040"/>
            <a:ext cx="11064240" cy="822960"/>
          </a:xfrm>
          <a:prstGeom prst="roundRect">
            <a:avLst>
              <a:gd name="adj" fmla="val 8889"/>
            </a:avLst>
          </a:prstGeom>
          <a:solidFill>
            <a:srgbClr val="243029"/>
          </a:solidFill>
          <a:ln w="19050">
            <a:solidFill>
              <a:srgbClr val="97BC6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2606040"/>
            <a:ext cx="1188720" cy="822960"/>
          </a:xfrm>
          <a:prstGeom prst="rect">
            <a:avLst/>
          </a:prstGeom>
          <a:solidFill>
            <a:srgbClr val="97BC62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48640" y="2606040"/>
            <a:ext cx="1188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A241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1920240" y="269748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7BC6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工具 + 方法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920240" y="306324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FA8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例：WorkBuddy + Obsidian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572000" y="2788920"/>
            <a:ext cx="36576" cy="457200"/>
          </a:xfrm>
          <a:prstGeom prst="rect">
            <a:avLst/>
          </a:prstGeom>
          <a:solidFill>
            <a:srgbClr val="97BC62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754880" y="260604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0F5E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钩子：工具福利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754880" y="301752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FFC83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关键词：「排版」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8138160" y="2788920"/>
            <a:ext cx="36576" cy="457200"/>
          </a:xfrm>
          <a:prstGeom prst="rect">
            <a:avLst/>
          </a:prstGeom>
          <a:solidFill>
            <a:srgbClr val="97BC62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321040" y="2606040"/>
            <a:ext cx="3200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FA8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字数 2800-3200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8FA8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（复杂可到 4000+）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548640" y="3520440"/>
            <a:ext cx="11064240" cy="822960"/>
          </a:xfrm>
          <a:prstGeom prst="roundRect">
            <a:avLst>
              <a:gd name="adj" fmla="val 8889"/>
            </a:avLst>
          </a:prstGeom>
          <a:solidFill>
            <a:srgbClr val="243029"/>
          </a:solidFill>
          <a:ln w="19050">
            <a:solidFill>
              <a:srgbClr val="FFC832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48640" y="3520440"/>
            <a:ext cx="1188720" cy="822960"/>
          </a:xfrm>
          <a:prstGeom prst="rect">
            <a:avLst/>
          </a:prstGeom>
          <a:solidFill>
            <a:srgbClr val="FFC832"/>
          </a:solidFill>
          <a:ln w="12700">
            <a:solidFill>
              <a:srgbClr val="FFC832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48640" y="3520440"/>
            <a:ext cx="1188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A241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2200" dirty="0"/>
          </a:p>
        </p:txBody>
      </p:sp>
      <p:sp>
        <p:nvSpPr>
          <p:cNvPr id="30" name="Text 28"/>
          <p:cNvSpPr/>
          <p:nvPr/>
        </p:nvSpPr>
        <p:spPr>
          <a:xfrm>
            <a:off x="1920240" y="361188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C83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认知重塑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1920240" y="397764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FA8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例：任务思维 → 系统思维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4572000" y="3703320"/>
            <a:ext cx="36576" cy="457200"/>
          </a:xfrm>
          <a:prstGeom prst="rect">
            <a:avLst/>
          </a:prstGeom>
          <a:solidFill>
            <a:srgbClr val="FFC832"/>
          </a:solidFill>
          <a:ln w="12700">
            <a:solidFill>
              <a:srgbClr val="FFC832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754880" y="352044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0F5E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钩子：认知福利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4754880" y="393192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FFC83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关键词：「评判」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8138160" y="3703320"/>
            <a:ext cx="36576" cy="457200"/>
          </a:xfrm>
          <a:prstGeom prst="rect">
            <a:avLst/>
          </a:prstGeom>
          <a:solidFill>
            <a:srgbClr val="FFC832"/>
          </a:solidFill>
          <a:ln w="12700">
            <a:solidFill>
              <a:srgbClr val="FFC832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21040" y="3520440"/>
            <a:ext cx="3200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FA8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字数 2800-3200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8FA8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（复杂可到 4000+）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548640" y="4434840"/>
            <a:ext cx="11064240" cy="822960"/>
          </a:xfrm>
          <a:prstGeom prst="roundRect">
            <a:avLst>
              <a:gd name="adj" fmla="val 8889"/>
            </a:avLst>
          </a:prstGeom>
          <a:solidFill>
            <a:srgbClr val="243029"/>
          </a:solidFill>
          <a:ln w="19050">
            <a:solidFill>
              <a:srgbClr val="D4A845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48640" y="4434840"/>
            <a:ext cx="1188720" cy="822960"/>
          </a:xfrm>
          <a:prstGeom prst="rect">
            <a:avLst/>
          </a:prstGeom>
          <a:solidFill>
            <a:srgbClr val="D4A845"/>
          </a:solidFill>
          <a:ln w="12700">
            <a:solidFill>
              <a:srgbClr val="D4A845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48640" y="4434840"/>
            <a:ext cx="1188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A241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en-US" sz="2200" dirty="0"/>
          </a:p>
        </p:txBody>
      </p:sp>
      <p:sp>
        <p:nvSpPr>
          <p:cNvPr id="40" name="Text 38"/>
          <p:cNvSpPr/>
          <p:nvPr/>
        </p:nvSpPr>
        <p:spPr>
          <a:xfrm>
            <a:off x="1920240" y="452628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8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认知 + 系统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1920240" y="489204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FA8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例：AI 时代稀缺的是判断力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4572000" y="4617720"/>
            <a:ext cx="36576" cy="457200"/>
          </a:xfrm>
          <a:prstGeom prst="rect">
            <a:avLst/>
          </a:prstGeom>
          <a:solidFill>
            <a:srgbClr val="D4A845"/>
          </a:solidFill>
          <a:ln w="12700">
            <a:solidFill>
              <a:srgbClr val="D4A845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754880" y="443484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0F5E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钩子：认知 + 系统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4754880" y="484632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FFC83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关键词：「锚点」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8138160" y="4617720"/>
            <a:ext cx="36576" cy="457200"/>
          </a:xfrm>
          <a:prstGeom prst="rect">
            <a:avLst/>
          </a:prstGeom>
          <a:solidFill>
            <a:srgbClr val="D4A845"/>
          </a:solidFill>
          <a:ln w="12700">
            <a:solidFill>
              <a:srgbClr val="D4A845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8321040" y="4434840"/>
            <a:ext cx="3200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FA8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字数 2800-3200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8FA8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（复杂可到 4000+）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548640" y="5349240"/>
            <a:ext cx="11064240" cy="822960"/>
          </a:xfrm>
          <a:prstGeom prst="roundRect">
            <a:avLst>
              <a:gd name="adj" fmla="val 8889"/>
            </a:avLst>
          </a:prstGeom>
          <a:solidFill>
            <a:srgbClr val="243029"/>
          </a:solidFill>
          <a:ln w="19050">
            <a:solidFill>
              <a:srgbClr val="D49A88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548640" y="5349240"/>
            <a:ext cx="1188720" cy="822960"/>
          </a:xfrm>
          <a:prstGeom prst="rect">
            <a:avLst/>
          </a:prstGeom>
          <a:solidFill>
            <a:srgbClr val="D49A88"/>
          </a:solidFill>
          <a:ln w="12700">
            <a:solidFill>
              <a:srgbClr val="D49A88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48640" y="5349240"/>
            <a:ext cx="1188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A241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</a:t>
            </a:r>
            <a:endParaRPr lang="en-US" sz="2200" dirty="0"/>
          </a:p>
        </p:txBody>
      </p:sp>
      <p:sp>
        <p:nvSpPr>
          <p:cNvPr id="50" name="Text 48"/>
          <p:cNvSpPr/>
          <p:nvPr/>
        </p:nvSpPr>
        <p:spPr>
          <a:xfrm>
            <a:off x="1920240" y="544068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9A8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变现闭环</a:t>
            </a:r>
            <a:endParaRPr lang="en-US" sz="1400" dirty="0"/>
          </a:p>
        </p:txBody>
      </p:sp>
      <p:sp>
        <p:nvSpPr>
          <p:cNvPr id="51" name="Text 49"/>
          <p:cNvSpPr/>
          <p:nvPr/>
        </p:nvSpPr>
        <p:spPr>
          <a:xfrm>
            <a:off x="1920240" y="580644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FA8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例：AI 知识库 0 到能赚钱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4572000" y="5532120"/>
            <a:ext cx="36576" cy="457200"/>
          </a:xfrm>
          <a:prstGeom prst="rect">
            <a:avLst/>
          </a:prstGeom>
          <a:solidFill>
            <a:srgbClr val="D49A88"/>
          </a:solidFill>
          <a:ln w="12700">
            <a:solidFill>
              <a:srgbClr val="D49A88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4754880" y="534924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0F5E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钩子：变现福利</a:t>
            </a:r>
            <a:endParaRPr lang="en-US" sz="1200" dirty="0"/>
          </a:p>
        </p:txBody>
      </p:sp>
      <p:sp>
        <p:nvSpPr>
          <p:cNvPr id="54" name="Text 52"/>
          <p:cNvSpPr/>
          <p:nvPr/>
        </p:nvSpPr>
        <p:spPr>
          <a:xfrm>
            <a:off x="4754880" y="576072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FFC83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关键词：「决策卡」</a:t>
            </a:r>
            <a:endParaRPr lang="en-US" sz="1100" dirty="0"/>
          </a:p>
        </p:txBody>
      </p:sp>
      <p:sp>
        <p:nvSpPr>
          <p:cNvPr id="55" name="Shape 53"/>
          <p:cNvSpPr/>
          <p:nvPr/>
        </p:nvSpPr>
        <p:spPr>
          <a:xfrm>
            <a:off x="8138160" y="5532120"/>
            <a:ext cx="36576" cy="457200"/>
          </a:xfrm>
          <a:prstGeom prst="rect">
            <a:avLst/>
          </a:prstGeom>
          <a:solidFill>
            <a:srgbClr val="D49A88"/>
          </a:solidFill>
          <a:ln w="12700">
            <a:solidFill>
              <a:srgbClr val="D49A88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8321040" y="5349240"/>
            <a:ext cx="3200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FA8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字数 2800-3200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8FA8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（复杂可到 4000+）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A2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0"/>
          </a:xfrm>
          <a:prstGeom prst="rect">
            <a:avLst/>
          </a:prstGeom>
          <a:solidFill>
            <a:srgbClr val="5B8DBE"/>
          </a:solidFill>
          <a:ln w="12700">
            <a:solidFill>
              <a:srgbClr val="5B8DB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5B8DBE"/>
          </a:solidFill>
          <a:ln w="12700">
            <a:solidFill>
              <a:srgbClr val="5B8DB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548640"/>
            <a:ext cx="1463040" cy="457200"/>
          </a:xfrm>
          <a:prstGeom prst="rect">
            <a:avLst/>
          </a:prstGeom>
          <a:solidFill>
            <a:srgbClr val="5B8DBE"/>
          </a:solidFill>
          <a:ln w="12700">
            <a:solidFill>
              <a:srgbClr val="5B8DB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548640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241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06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2194560" y="502920"/>
            <a:ext cx="9418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0F5E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福利包：必须真做，兑现承诺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548640" y="1554480"/>
            <a:ext cx="3657600" cy="4023360"/>
          </a:xfrm>
          <a:prstGeom prst="roundRect">
            <a:avLst>
              <a:gd name="adj" fmla="val 3750"/>
            </a:avLst>
          </a:prstGeom>
          <a:solidFill>
            <a:srgbClr val="243029"/>
          </a:solidFill>
          <a:ln w="25400">
            <a:solidFill>
              <a:srgbClr val="2C5F2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1691640"/>
            <a:ext cx="3657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000000"/>
                </a:solidFill>
              </a:rPr>
              <a:t>🛠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548640" y="260604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C5F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工具福利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1920240" y="3108960"/>
            <a:ext cx="914400" cy="27432"/>
          </a:xfrm>
          <a:prstGeom prst="rect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324612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8FA8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例：公众号 / 排版 / 踩坑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31520" y="3657600"/>
            <a:ext cx="329184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400"/>
              </a:spcBef>
              <a:buNone/>
            </a:pPr>
            <a:r>
              <a:rPr lang="en-US" sz="1200" dirty="0">
                <a:solidFill>
                  <a:srgbClr val="F0F5E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WorkBuddy 指令清单</a:t>
            </a:r>
            <a:endParaRPr lang="en-US" sz="1200" dirty="0"/>
          </a:p>
          <a:p>
            <a:pPr algn="ctr" indent="0" marL="0">
              <a:spcBef>
                <a:spcPts val="400"/>
              </a:spcBef>
              <a:buNone/>
            </a:pPr>
            <a:r>
              <a:rPr lang="en-US" sz="1200" dirty="0">
                <a:solidFill>
                  <a:srgbClr val="F0F5E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排版预设参数</a:t>
            </a:r>
            <a:endParaRPr lang="en-US" sz="1200" dirty="0"/>
          </a:p>
          <a:p>
            <a:pPr algn="ctr" indent="0" marL="0">
              <a:spcBef>
                <a:spcPts val="400"/>
              </a:spcBef>
              <a:buNone/>
            </a:pPr>
            <a:r>
              <a:rPr lang="en-US" sz="1200" dirty="0">
                <a:solidFill>
                  <a:srgbClr val="F0F5E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 个 90% 撞的配置坑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480560" y="1554480"/>
            <a:ext cx="3657600" cy="4023360"/>
          </a:xfrm>
          <a:prstGeom prst="roundRect">
            <a:avLst>
              <a:gd name="adj" fmla="val 3750"/>
            </a:avLst>
          </a:prstGeom>
          <a:solidFill>
            <a:srgbClr val="243029"/>
          </a:solidFill>
          <a:ln w="25400">
            <a:solidFill>
              <a:srgbClr val="97BC6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480560" y="1691640"/>
            <a:ext cx="3657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000000"/>
                </a:solidFill>
              </a:rPr>
              <a:t>🧠</a:t>
            </a:r>
            <a:endParaRPr lang="en-US" sz="4000" dirty="0"/>
          </a:p>
        </p:txBody>
      </p:sp>
      <p:sp>
        <p:nvSpPr>
          <p:cNvPr id="15" name="Text 13"/>
          <p:cNvSpPr/>
          <p:nvPr/>
        </p:nvSpPr>
        <p:spPr>
          <a:xfrm>
            <a:off x="4480560" y="260604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97BC6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认知福利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5852160" y="3108960"/>
            <a:ext cx="914400" cy="27432"/>
          </a:xfrm>
          <a:prstGeom prst="rect">
            <a:avLst/>
          </a:prstGeom>
          <a:solidFill>
            <a:srgbClr val="97BC62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480560" y="324612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8FA8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例：评判 / 锚点 / 七层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663440" y="3657600"/>
            <a:ext cx="329184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400"/>
              </a:spcBef>
              <a:buNone/>
            </a:pPr>
            <a:r>
              <a:rPr lang="en-US" sz="1200" dirty="0">
                <a:solidFill>
                  <a:srgbClr val="F0F5E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判断力 7 层框架</a:t>
            </a:r>
            <a:endParaRPr lang="en-US" sz="1200" dirty="0"/>
          </a:p>
          <a:p>
            <a:pPr algn="ctr" indent="0" marL="0">
              <a:spcBef>
                <a:spcPts val="400"/>
              </a:spcBef>
              <a:buNone/>
            </a:pPr>
            <a:r>
              <a:rPr lang="en-US" sz="1200" dirty="0">
                <a:solidFill>
                  <a:srgbClr val="F0F5E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决策锚点表</a:t>
            </a:r>
            <a:endParaRPr lang="en-US" sz="1200" dirty="0"/>
          </a:p>
          <a:p>
            <a:pPr algn="ctr" indent="0" marL="0">
              <a:spcBef>
                <a:spcPts val="400"/>
              </a:spcBef>
              <a:buNone/>
            </a:pPr>
            <a:r>
              <a:rPr lang="en-US" sz="1200" dirty="0">
                <a:solidFill>
                  <a:srgbClr val="F0F5E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认知重构清单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8412480" y="1554480"/>
            <a:ext cx="3657600" cy="4023360"/>
          </a:xfrm>
          <a:prstGeom prst="roundRect">
            <a:avLst>
              <a:gd name="adj" fmla="val 3750"/>
            </a:avLst>
          </a:prstGeom>
          <a:solidFill>
            <a:srgbClr val="243029"/>
          </a:solidFill>
          <a:ln w="25400">
            <a:solidFill>
              <a:srgbClr val="D4A84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412480" y="1691640"/>
            <a:ext cx="3657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000000"/>
                </a:solidFill>
              </a:rPr>
              <a:t>💰</a:t>
            </a:r>
            <a:endParaRPr lang="en-US" sz="4000" dirty="0"/>
          </a:p>
        </p:txBody>
      </p:sp>
      <p:sp>
        <p:nvSpPr>
          <p:cNvPr id="21" name="Text 19"/>
          <p:cNvSpPr/>
          <p:nvPr/>
        </p:nvSpPr>
        <p:spPr>
          <a:xfrm>
            <a:off x="8412480" y="260604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4A8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变现福利</a:t>
            </a:r>
            <a:endParaRPr lang="en-US" sz="2200" dirty="0"/>
          </a:p>
        </p:txBody>
      </p:sp>
      <p:sp>
        <p:nvSpPr>
          <p:cNvPr id="22" name="Shape 20"/>
          <p:cNvSpPr/>
          <p:nvPr/>
        </p:nvSpPr>
        <p:spPr>
          <a:xfrm>
            <a:off x="9784080" y="3108960"/>
            <a:ext cx="914400" cy="27432"/>
          </a:xfrm>
          <a:prstGeom prst="rect">
            <a:avLst/>
          </a:prstGeom>
          <a:solidFill>
            <a:srgbClr val="D4A845"/>
          </a:solidFill>
          <a:ln w="12700">
            <a:solidFill>
              <a:srgbClr val="D4A84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412480" y="324612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8FA8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例：决策卡 / 避坑 / 变现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8595360" y="3657600"/>
            <a:ext cx="329184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400"/>
              </a:spcBef>
              <a:buNone/>
            </a:pPr>
            <a:r>
              <a:rPr lang="en-US" sz="1200" dirty="0">
                <a:solidFill>
                  <a:srgbClr val="F0F5E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类客户判断图</a:t>
            </a:r>
            <a:endParaRPr lang="en-US" sz="1200" dirty="0"/>
          </a:p>
          <a:p>
            <a:pPr algn="ctr" indent="0" marL="0">
              <a:spcBef>
                <a:spcPts val="400"/>
              </a:spcBef>
              <a:buNone/>
            </a:pPr>
            <a:r>
              <a:rPr lang="en-US" sz="1200" dirty="0">
                <a:solidFill>
                  <a:srgbClr val="F0F5E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直播连麦答疑 SOP</a:t>
            </a:r>
            <a:endParaRPr lang="en-US" sz="1200" dirty="0"/>
          </a:p>
          <a:p>
            <a:pPr algn="ctr" indent="0" marL="0">
              <a:spcBef>
                <a:spcPts val="400"/>
              </a:spcBef>
              <a:buNone/>
            </a:pPr>
            <a:r>
              <a:rPr lang="en-US" sz="1200" dirty="0">
                <a:solidFill>
                  <a:srgbClr val="F0F5E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产品矩阵重构清单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548640" y="6309360"/>
            <a:ext cx="11064240" cy="457200"/>
          </a:xfrm>
          <a:prstGeom prst="rect">
            <a:avLst/>
          </a:prstGeom>
          <a:solidFill>
            <a:srgbClr val="FFC832"/>
          </a:solidFill>
          <a:ln w="12700">
            <a:solidFill>
              <a:srgbClr val="FFC83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48640" y="630936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241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⚡ 引流文承诺的关键词领资料包 — 必须真做。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A2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0"/>
          </a:xfrm>
          <a:prstGeom prst="rect">
            <a:avLst/>
          </a:prstGeom>
          <a:solidFill>
            <a:srgbClr val="5B8DBE"/>
          </a:solidFill>
          <a:ln w="12700">
            <a:solidFill>
              <a:srgbClr val="5B8DB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5B8DBE"/>
          </a:solidFill>
          <a:ln w="12700">
            <a:solidFill>
              <a:srgbClr val="5B8DB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45720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0F5E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福利包 4 步制作流程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48640" y="109728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FFC83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真做，不是装样子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1691640"/>
            <a:ext cx="2743200" cy="4206240"/>
          </a:xfrm>
          <a:prstGeom prst="roundRect">
            <a:avLst>
              <a:gd name="adj" fmla="val 5000"/>
            </a:avLst>
          </a:prstGeom>
          <a:solidFill>
            <a:srgbClr val="243029"/>
          </a:solidFill>
          <a:ln w="25400">
            <a:solidFill>
              <a:srgbClr val="2C5F2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691640"/>
            <a:ext cx="2743200" cy="640080"/>
          </a:xfrm>
          <a:prstGeom prst="rect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1691640"/>
            <a:ext cx="2743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A241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548640" y="2468880"/>
            <a:ext cx="2743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C5F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定钩子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1645920" y="3154680"/>
            <a:ext cx="548640" cy="27432"/>
          </a:xfrm>
          <a:prstGeom prst="rect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3291840"/>
            <a:ext cx="237744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400"/>
              </a:spcBef>
              <a:buNone/>
            </a:pPr>
            <a:r>
              <a:rPr lang="en-US" sz="1200" dirty="0">
                <a:solidFill>
                  <a:srgbClr val="F0F5E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决定 3 个关键词</a:t>
            </a:r>
            <a:endParaRPr lang="en-US" sz="1200" dirty="0"/>
          </a:p>
          <a:p>
            <a:pPr algn="ctr" indent="0" marL="0">
              <a:spcBef>
                <a:spcPts val="400"/>
              </a:spcBef>
              <a:buNone/>
            </a:pPr>
            <a:r>
              <a:rPr lang="en-US" sz="1200" dirty="0">
                <a:solidFill>
                  <a:srgbClr val="F0F5E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对应 3 份资料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474720" y="1691640"/>
            <a:ext cx="2743200" cy="4206240"/>
          </a:xfrm>
          <a:prstGeom prst="roundRect">
            <a:avLst>
              <a:gd name="adj" fmla="val 5000"/>
            </a:avLst>
          </a:prstGeom>
          <a:solidFill>
            <a:srgbClr val="243029"/>
          </a:solidFill>
          <a:ln w="25400">
            <a:solidFill>
              <a:srgbClr val="97BC6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474720" y="1691640"/>
            <a:ext cx="2743200" cy="640080"/>
          </a:xfrm>
          <a:prstGeom prst="rect">
            <a:avLst/>
          </a:prstGeom>
          <a:solidFill>
            <a:srgbClr val="97BC62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474720" y="1691640"/>
            <a:ext cx="2743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A241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3474720" y="2468880"/>
            <a:ext cx="2743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97BC6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做资料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4572000" y="3154680"/>
            <a:ext cx="548640" cy="27432"/>
          </a:xfrm>
          <a:prstGeom prst="rect">
            <a:avLst/>
          </a:prstGeom>
          <a:solidFill>
            <a:srgbClr val="97BC62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0" y="3291840"/>
            <a:ext cx="237744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400"/>
              </a:spcBef>
              <a:buNone/>
            </a:pPr>
            <a:r>
              <a:rPr lang="en-US" sz="1200" dirty="0">
                <a:solidFill>
                  <a:srgbClr val="F0F5E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从原文 + vault</a:t>
            </a:r>
            <a:endParaRPr lang="en-US" sz="1200" dirty="0"/>
          </a:p>
          <a:p>
            <a:pPr algn="ctr" indent="0" marL="0">
              <a:spcBef>
                <a:spcPts val="400"/>
              </a:spcBef>
              <a:buNone/>
            </a:pPr>
            <a:r>
              <a:rPr lang="en-US" sz="1200" dirty="0">
                <a:solidFill>
                  <a:srgbClr val="F0F5E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摘出来整合</a:t>
            </a:r>
            <a:endParaRPr lang="en-US" sz="1200" dirty="0"/>
          </a:p>
          <a:p>
            <a:pPr algn="ctr" indent="0" marL="0">
              <a:spcBef>
                <a:spcPts val="400"/>
              </a:spcBef>
              <a:buNone/>
            </a:pPr>
            <a:r>
              <a:rPr lang="en-US" sz="1200" dirty="0">
                <a:solidFill>
                  <a:srgbClr val="F0F5E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不是凭空编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400800" y="1691640"/>
            <a:ext cx="2743200" cy="4206240"/>
          </a:xfrm>
          <a:prstGeom prst="roundRect">
            <a:avLst>
              <a:gd name="adj" fmla="val 5000"/>
            </a:avLst>
          </a:prstGeom>
          <a:solidFill>
            <a:srgbClr val="243029"/>
          </a:solidFill>
          <a:ln w="25400">
            <a:solidFill>
              <a:srgbClr val="FFC83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0800" y="1691640"/>
            <a:ext cx="2743200" cy="640080"/>
          </a:xfrm>
          <a:prstGeom prst="rect">
            <a:avLst/>
          </a:prstGeom>
          <a:solidFill>
            <a:srgbClr val="FFC832"/>
          </a:solidFill>
          <a:ln w="12700">
            <a:solidFill>
              <a:srgbClr val="FFC83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0" y="1691640"/>
            <a:ext cx="2743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A241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2600" dirty="0"/>
          </a:p>
        </p:txBody>
      </p:sp>
      <p:sp>
        <p:nvSpPr>
          <p:cNvPr id="21" name="Text 19"/>
          <p:cNvSpPr/>
          <p:nvPr/>
        </p:nvSpPr>
        <p:spPr>
          <a:xfrm>
            <a:off x="6400800" y="2468880"/>
            <a:ext cx="2743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C83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标来源</a:t>
            </a:r>
            <a:endParaRPr lang="en-US" sz="2200" dirty="0"/>
          </a:p>
        </p:txBody>
      </p:sp>
      <p:sp>
        <p:nvSpPr>
          <p:cNvPr id="22" name="Shape 20"/>
          <p:cNvSpPr/>
          <p:nvPr/>
        </p:nvSpPr>
        <p:spPr>
          <a:xfrm>
            <a:off x="7498080" y="3154680"/>
            <a:ext cx="548640" cy="27432"/>
          </a:xfrm>
          <a:prstGeom prst="rect">
            <a:avLst/>
          </a:prstGeom>
          <a:solidFill>
            <a:srgbClr val="FFC832"/>
          </a:solidFill>
          <a:ln w="12700">
            <a:solidFill>
              <a:srgbClr val="FFC832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583680" y="3291840"/>
            <a:ext cx="237744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400"/>
              </a:spcBef>
              <a:buNone/>
            </a:pPr>
            <a:r>
              <a:rPr lang="en-US" sz="1200" dirty="0">
                <a:solidFill>
                  <a:srgbClr val="F0F5E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文末注「整理自 XX」</a:t>
            </a:r>
            <a:endParaRPr lang="en-US" sz="1200" dirty="0"/>
          </a:p>
          <a:p>
            <a:pPr algn="ctr" indent="0" marL="0">
              <a:spcBef>
                <a:spcPts val="400"/>
              </a:spcBef>
              <a:buNone/>
            </a:pPr>
            <a:r>
              <a:rPr lang="en-US" sz="1200" dirty="0">
                <a:solidFill>
                  <a:srgbClr val="F0F5E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诚实免责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9326880" y="1691640"/>
            <a:ext cx="2743200" cy="4206240"/>
          </a:xfrm>
          <a:prstGeom prst="roundRect">
            <a:avLst>
              <a:gd name="adj" fmla="val 5000"/>
            </a:avLst>
          </a:prstGeom>
          <a:solidFill>
            <a:srgbClr val="243029"/>
          </a:solidFill>
          <a:ln w="25400">
            <a:solidFill>
              <a:srgbClr val="D4A84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326880" y="1691640"/>
            <a:ext cx="2743200" cy="640080"/>
          </a:xfrm>
          <a:prstGeom prst="rect">
            <a:avLst/>
          </a:prstGeom>
          <a:solidFill>
            <a:srgbClr val="D4A845"/>
          </a:solidFill>
          <a:ln w="12700">
            <a:solidFill>
              <a:srgbClr val="D4A84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326880" y="1691640"/>
            <a:ext cx="2743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A241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en-US" sz="2600" dirty="0"/>
          </a:p>
        </p:txBody>
      </p:sp>
      <p:sp>
        <p:nvSpPr>
          <p:cNvPr id="27" name="Text 25"/>
          <p:cNvSpPr/>
          <p:nvPr/>
        </p:nvSpPr>
        <p:spPr>
          <a:xfrm>
            <a:off x="9326880" y="2468880"/>
            <a:ext cx="2743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4A8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私域承接</a:t>
            </a:r>
            <a:endParaRPr lang="en-US" sz="2200" dirty="0"/>
          </a:p>
        </p:txBody>
      </p:sp>
      <p:sp>
        <p:nvSpPr>
          <p:cNvPr id="28" name="Shape 26"/>
          <p:cNvSpPr/>
          <p:nvPr/>
        </p:nvSpPr>
        <p:spPr>
          <a:xfrm>
            <a:off x="10424160" y="3154680"/>
            <a:ext cx="548640" cy="27432"/>
          </a:xfrm>
          <a:prstGeom prst="rect">
            <a:avLst/>
          </a:prstGeom>
          <a:solidFill>
            <a:srgbClr val="D4A845"/>
          </a:solidFill>
          <a:ln w="12700">
            <a:solidFill>
              <a:srgbClr val="D4A845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509760" y="3291840"/>
            <a:ext cx="237744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400"/>
              </a:spcBef>
              <a:buNone/>
            </a:pPr>
            <a:r>
              <a:rPr lang="en-US" sz="1200" dirty="0">
                <a:solidFill>
                  <a:srgbClr val="F0F5E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回复后立即发</a:t>
            </a:r>
            <a:endParaRPr lang="en-US" sz="1200" dirty="0"/>
          </a:p>
          <a:p>
            <a:pPr algn="ctr" indent="0" marL="0">
              <a:spcBef>
                <a:spcPts val="400"/>
              </a:spcBef>
              <a:buNone/>
            </a:pPr>
            <a:r>
              <a:rPr lang="en-US" sz="1200" dirty="0">
                <a:solidFill>
                  <a:srgbClr val="F0F5E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设关键词</a:t>
            </a:r>
            <a:endParaRPr lang="en-US" sz="1200" dirty="0"/>
          </a:p>
          <a:p>
            <a:pPr algn="ctr" indent="0" marL="0">
              <a:spcBef>
                <a:spcPts val="400"/>
              </a:spcBef>
              <a:buNone/>
            </a:pPr>
            <a:r>
              <a:rPr lang="en-US" sz="1200" dirty="0">
                <a:solidFill>
                  <a:srgbClr val="F0F5E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自动回复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A2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0"/>
          </a:xfrm>
          <a:prstGeom prst="rect">
            <a:avLst/>
          </a:prstGeom>
          <a:solidFill>
            <a:srgbClr val="C44545"/>
          </a:solidFill>
          <a:ln w="12700">
            <a:solidFill>
              <a:srgbClr val="C4454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C44545"/>
          </a:solidFill>
          <a:ln w="12700">
            <a:solidFill>
              <a:srgbClr val="C4454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45720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0F5E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质量关：AI 味扫描 + 学员规范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48640" y="109728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445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必须 0 命中 — 否则就是 AI 洗稿文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155448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445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词黑名单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548640" y="2103120"/>
            <a:ext cx="5486400" cy="3840480"/>
          </a:xfrm>
          <a:prstGeom prst="roundRect">
            <a:avLst>
              <a:gd name="adj" fmla="val 2381"/>
            </a:avLst>
          </a:prstGeom>
          <a:solidFill>
            <a:srgbClr val="243029"/>
          </a:solidFill>
          <a:ln w="19050">
            <a:solidFill>
              <a:srgbClr val="C4454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77240" y="2331720"/>
            <a:ext cx="2468880" cy="411480"/>
          </a:xfrm>
          <a:prstGeom prst="rect">
            <a:avLst/>
          </a:prstGeom>
          <a:solidFill>
            <a:srgbClr val="C44545">
              <a:alpha val="20000"/>
            </a:srgbClr>
          </a:solidFill>
          <a:ln w="12700">
            <a:solidFill>
              <a:srgbClr val="C4454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2331720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445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❌ 综上所述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383280" y="2331720"/>
            <a:ext cx="2468880" cy="411480"/>
          </a:xfrm>
          <a:prstGeom prst="rect">
            <a:avLst/>
          </a:prstGeom>
          <a:solidFill>
            <a:srgbClr val="C44545">
              <a:alpha val="20000"/>
            </a:srgbClr>
          </a:solidFill>
          <a:ln w="12700">
            <a:solidFill>
              <a:srgbClr val="C4454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383280" y="2331720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445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❌ 总而言之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777240" y="2834640"/>
            <a:ext cx="2468880" cy="411480"/>
          </a:xfrm>
          <a:prstGeom prst="rect">
            <a:avLst/>
          </a:prstGeom>
          <a:solidFill>
            <a:srgbClr val="C44545">
              <a:alpha val="20000"/>
            </a:srgbClr>
          </a:solidFill>
          <a:ln w="12700">
            <a:solidFill>
              <a:srgbClr val="C4454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" y="2834640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445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❌ 在当今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383280" y="2834640"/>
            <a:ext cx="2468880" cy="411480"/>
          </a:xfrm>
          <a:prstGeom prst="rect">
            <a:avLst/>
          </a:prstGeom>
          <a:solidFill>
            <a:srgbClr val="C44545">
              <a:alpha val="20000"/>
            </a:srgbClr>
          </a:solidFill>
          <a:ln w="12700">
            <a:solidFill>
              <a:srgbClr val="C4454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383280" y="2834640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445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❌ 不可或缺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777240" y="3337560"/>
            <a:ext cx="2468880" cy="411480"/>
          </a:xfrm>
          <a:prstGeom prst="rect">
            <a:avLst/>
          </a:prstGeom>
          <a:solidFill>
            <a:srgbClr val="C44545">
              <a:alpha val="20000"/>
            </a:srgbClr>
          </a:solidFill>
          <a:ln w="12700">
            <a:solidFill>
              <a:srgbClr val="C4454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77240" y="3337560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445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❌ 至关重要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383280" y="3337560"/>
            <a:ext cx="2468880" cy="411480"/>
          </a:xfrm>
          <a:prstGeom prst="rect">
            <a:avLst/>
          </a:prstGeom>
          <a:solidFill>
            <a:srgbClr val="C44545">
              <a:alpha val="20000"/>
            </a:srgbClr>
          </a:solidFill>
          <a:ln w="12700">
            <a:solidFill>
              <a:srgbClr val="C4454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383280" y="3337560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445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❌ 赋能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777240" y="3840480"/>
            <a:ext cx="2468880" cy="411480"/>
          </a:xfrm>
          <a:prstGeom prst="rect">
            <a:avLst/>
          </a:prstGeom>
          <a:solidFill>
            <a:srgbClr val="C44545">
              <a:alpha val="20000"/>
            </a:srgbClr>
          </a:solidFill>
          <a:ln w="12700">
            <a:solidFill>
              <a:srgbClr val="C4454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77240" y="3840480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445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❌ 打造 XX 闭环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383280" y="3840480"/>
            <a:ext cx="2468880" cy="411480"/>
          </a:xfrm>
          <a:prstGeom prst="rect">
            <a:avLst/>
          </a:prstGeom>
          <a:solidFill>
            <a:srgbClr val="C44545">
              <a:alpha val="20000"/>
            </a:srgbClr>
          </a:solidFill>
          <a:ln w="12700">
            <a:solidFill>
              <a:srgbClr val="C4454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383280" y="3840480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445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❌ 画龙点睛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777240" y="4343400"/>
            <a:ext cx="2468880" cy="411480"/>
          </a:xfrm>
          <a:prstGeom prst="rect">
            <a:avLst/>
          </a:prstGeom>
          <a:solidFill>
            <a:srgbClr val="C44545">
              <a:alpha val="20000"/>
            </a:srgbClr>
          </a:solidFill>
          <a:ln w="12700">
            <a:solidFill>
              <a:srgbClr val="C4454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77240" y="4343400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445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❌ 锦上添花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383280" y="4343400"/>
            <a:ext cx="2468880" cy="411480"/>
          </a:xfrm>
          <a:prstGeom prst="rect">
            <a:avLst/>
          </a:prstGeom>
          <a:solidFill>
            <a:srgbClr val="C44545">
              <a:alpha val="20000"/>
            </a:srgbClr>
          </a:solidFill>
          <a:ln w="12700">
            <a:solidFill>
              <a:srgbClr val="C4454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383280" y="4343400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445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❌ 不言而喻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777240" y="4846320"/>
            <a:ext cx="2468880" cy="411480"/>
          </a:xfrm>
          <a:prstGeom prst="rect">
            <a:avLst/>
          </a:prstGeom>
          <a:solidFill>
            <a:srgbClr val="C44545">
              <a:alpha val="20000"/>
            </a:srgbClr>
          </a:solidFill>
          <a:ln w="12700">
            <a:solidFill>
              <a:srgbClr val="C44545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77240" y="4846320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445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❌ 显而易见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383280" y="4846320"/>
            <a:ext cx="2468880" cy="411480"/>
          </a:xfrm>
          <a:prstGeom prst="rect">
            <a:avLst/>
          </a:prstGeom>
          <a:solidFill>
            <a:srgbClr val="C44545">
              <a:alpha val="20000"/>
            </a:srgbClr>
          </a:solidFill>
          <a:ln w="12700">
            <a:solidFill>
              <a:srgbClr val="C4454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383280" y="4846320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445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❌ 让我们一起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777240" y="5349240"/>
            <a:ext cx="2468880" cy="411480"/>
          </a:xfrm>
          <a:prstGeom prst="rect">
            <a:avLst/>
          </a:prstGeom>
          <a:solidFill>
            <a:srgbClr val="C44545">
              <a:alpha val="20000"/>
            </a:srgbClr>
          </a:solidFill>
          <a:ln w="12700">
            <a:solidFill>
              <a:srgbClr val="C44545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77240" y="5349240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445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❌ 深度解析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3383280" y="5349240"/>
            <a:ext cx="2468880" cy="411480"/>
          </a:xfrm>
          <a:prstGeom prst="rect">
            <a:avLst/>
          </a:prstGeom>
          <a:solidFill>
            <a:srgbClr val="C44545">
              <a:alpha val="20000"/>
            </a:srgbClr>
          </a:solidFill>
          <a:ln w="12700">
            <a:solidFill>
              <a:srgbClr val="C44545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383280" y="5349240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445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❌ 全面解析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777240" y="5852160"/>
            <a:ext cx="2468880" cy="411480"/>
          </a:xfrm>
          <a:prstGeom prst="rect">
            <a:avLst/>
          </a:prstGeom>
          <a:solidFill>
            <a:srgbClr val="C44545">
              <a:alpha val="20000"/>
            </a:srgbClr>
          </a:solidFill>
          <a:ln w="12700">
            <a:solidFill>
              <a:srgbClr val="C44545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77240" y="5852160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445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❌ 深入探讨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3383280" y="5852160"/>
            <a:ext cx="2468880" cy="411480"/>
          </a:xfrm>
          <a:prstGeom prst="rect">
            <a:avLst/>
          </a:prstGeom>
          <a:solidFill>
            <a:srgbClr val="C44545">
              <a:alpha val="20000"/>
            </a:srgbClr>
          </a:solidFill>
          <a:ln w="12700">
            <a:solidFill>
              <a:srgbClr val="C44545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383280" y="5852160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445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❌ 在某种程度上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6309360" y="155448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49A8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学员口吻铁律（琪萌）</a:t>
            </a:r>
            <a:endParaRPr lang="en-US" sz="1800" dirty="0"/>
          </a:p>
        </p:txBody>
      </p:sp>
      <p:sp>
        <p:nvSpPr>
          <p:cNvPr id="41" name="Shape 39"/>
          <p:cNvSpPr/>
          <p:nvPr/>
        </p:nvSpPr>
        <p:spPr>
          <a:xfrm>
            <a:off x="6309360" y="2103120"/>
            <a:ext cx="5486400" cy="3840480"/>
          </a:xfrm>
          <a:prstGeom prst="roundRect">
            <a:avLst>
              <a:gd name="adj" fmla="val 2381"/>
            </a:avLst>
          </a:prstGeom>
          <a:solidFill>
            <a:srgbClr val="243029"/>
          </a:solidFill>
          <a:ln w="19050">
            <a:solidFill>
              <a:srgbClr val="D49A8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92240" y="233172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9A8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✓</a:t>
            </a:r>
            <a:endParaRPr lang="en-US" sz="1400" dirty="0"/>
          </a:p>
        </p:txBody>
      </p:sp>
      <p:sp>
        <p:nvSpPr>
          <p:cNvPr id="43" name="Text 41"/>
          <p:cNvSpPr/>
          <p:nvPr/>
        </p:nvSpPr>
        <p:spPr>
          <a:xfrm>
            <a:off x="6858000" y="233172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0F5E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第一人称「我」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6492240" y="288036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9A8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✓</a:t>
            </a:r>
            <a:endParaRPr lang="en-US" sz="1400" dirty="0"/>
          </a:p>
        </p:txBody>
      </p:sp>
      <p:sp>
        <p:nvSpPr>
          <p:cNvPr id="45" name="Text 43"/>
          <p:cNvSpPr/>
          <p:nvPr/>
        </p:nvSpPr>
        <p:spPr>
          <a:xfrm>
            <a:off x="6858000" y="288036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0F5E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具象场景（母婴店 / 二胎）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6492240" y="342900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9A8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✓</a:t>
            </a:r>
            <a:endParaRPr lang="en-US" sz="1400" dirty="0"/>
          </a:p>
        </p:txBody>
      </p:sp>
      <p:sp>
        <p:nvSpPr>
          <p:cNvPr id="47" name="Text 45"/>
          <p:cNvSpPr/>
          <p:nvPr/>
        </p:nvSpPr>
        <p:spPr>
          <a:xfrm>
            <a:off x="6858000" y="342900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0F5E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拒绝修辞，少形容词副词</a:t>
            </a:r>
            <a:endParaRPr lang="en-US" sz="1300" dirty="0"/>
          </a:p>
        </p:txBody>
      </p:sp>
      <p:sp>
        <p:nvSpPr>
          <p:cNvPr id="48" name="Text 46"/>
          <p:cNvSpPr/>
          <p:nvPr/>
        </p:nvSpPr>
        <p:spPr>
          <a:xfrm>
            <a:off x="6492240" y="397764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9A8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✓</a:t>
            </a:r>
            <a:endParaRPr lang="en-US" sz="1400" dirty="0"/>
          </a:p>
        </p:txBody>
      </p:sp>
      <p:sp>
        <p:nvSpPr>
          <p:cNvPr id="49" name="Text 47"/>
          <p:cNvSpPr/>
          <p:nvPr/>
        </p:nvSpPr>
        <p:spPr>
          <a:xfrm>
            <a:off x="6858000" y="397764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0F5E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多动词（说明文不是散文）</a:t>
            </a:r>
            <a:endParaRPr lang="en-US" sz="1300" dirty="0"/>
          </a:p>
        </p:txBody>
      </p:sp>
      <p:sp>
        <p:nvSpPr>
          <p:cNvPr id="50" name="Text 48"/>
          <p:cNvSpPr/>
          <p:nvPr/>
        </p:nvSpPr>
        <p:spPr>
          <a:xfrm>
            <a:off x="6492240" y="452628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9A8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✓</a:t>
            </a:r>
            <a:endParaRPr lang="en-US" sz="1400" dirty="0"/>
          </a:p>
        </p:txBody>
      </p:sp>
      <p:sp>
        <p:nvSpPr>
          <p:cNvPr id="51" name="Text 49"/>
          <p:cNvSpPr/>
          <p:nvPr/>
        </p:nvSpPr>
        <p:spPr>
          <a:xfrm>
            <a:off x="6858000" y="452628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0F5E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数字真实（1695 / 6000 / 69）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6492240" y="507492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9A8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✓</a:t>
            </a:r>
            <a:endParaRPr lang="en-US" sz="1400" dirty="0"/>
          </a:p>
        </p:txBody>
      </p:sp>
      <p:sp>
        <p:nvSpPr>
          <p:cNvPr id="53" name="Text 51"/>
          <p:cNvSpPr/>
          <p:nvPr/>
        </p:nvSpPr>
        <p:spPr>
          <a:xfrm>
            <a:off x="6858000" y="507492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0F5E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情绪曲线：低谷 → 渐升 → 高潮 → 收尾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A2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0"/>
          </a:xfrm>
          <a:prstGeom prst="rect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45720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0F5E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入库铁律：文件名 + frontmatter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48640" y="109728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FFC83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日期 = 对话当天日期，不是写作日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1691640"/>
            <a:ext cx="11064240" cy="914400"/>
          </a:xfrm>
          <a:prstGeom prst="roundRect">
            <a:avLst>
              <a:gd name="adj" fmla="val 10000"/>
            </a:avLst>
          </a:prstGeom>
          <a:solidFill>
            <a:srgbClr val="243029"/>
          </a:solidFill>
          <a:ln w="25400">
            <a:solidFill>
              <a:srgbClr val="2C5F2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78308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📁 文件名格式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31520" y="219456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C83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YYYY-MM-DD-&lt;主题关键词&gt;-公众号.md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2743200"/>
            <a:ext cx="11064240" cy="3200400"/>
          </a:xfrm>
          <a:prstGeom prst="roundRect">
            <a:avLst>
              <a:gd name="adj" fmla="val 2857"/>
            </a:avLst>
          </a:prstGeom>
          <a:solidFill>
            <a:srgbClr val="243029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283464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📝 frontmatter 必带 11 字段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822960" y="324612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0F5E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title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822960" y="361188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0F5E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type: wechat-article-draft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822960" y="397764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0F5E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status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822960" y="434340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0F5E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created (对话当天日期)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822960" y="470916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0F5E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published (留空)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822960" y="507492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0F5E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wechat_url (留空)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126480" y="3246120"/>
            <a:ext cx="5303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0F5E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tags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126480" y="3611880"/>
            <a:ext cx="5303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0F5E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audience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126480" y="3977640"/>
            <a:ext cx="5303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0F5E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summary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126480" y="4343400"/>
            <a:ext cx="5303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0F5E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title_candidates (3 选)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126480" y="4709160"/>
            <a:ext cx="5303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0F5E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video_tags (3 安全标签)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126480" y="5074920"/>
            <a:ext cx="5303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0F5E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source_materials (双向链)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48640" y="6309360"/>
            <a:ext cx="11064240" cy="457200"/>
          </a:xfrm>
          <a:prstGeom prst="rect">
            <a:avLst/>
          </a:prstGeom>
          <a:solidFill>
            <a:srgbClr val="FFC832"/>
          </a:solidFill>
          <a:ln w="12700">
            <a:solidFill>
              <a:srgbClr val="FFC832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48640" y="630936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241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⚡ 入库位置：公众号文章/，福利包 → 公众号文章/Resources/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A2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0"/>
          </a:xfrm>
          <a:prstGeom prst="rect">
            <a:avLst/>
          </a:prstGeom>
          <a:solidFill>
            <a:srgbClr val="FFC832"/>
          </a:solidFill>
          <a:ln w="12700">
            <a:solidFill>
              <a:srgbClr val="FFC83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FFC832"/>
          </a:solidFill>
          <a:ln w="12700">
            <a:solidFill>
              <a:srgbClr val="FFC83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1828800" y="3657600"/>
            <a:ext cx="7315200" cy="7315200"/>
          </a:xfrm>
          <a:prstGeom prst="ellipse">
            <a:avLst/>
          </a:prstGeom>
          <a:solidFill>
            <a:srgbClr val="2C5F2D">
              <a:alpha val="20000"/>
            </a:srgbClr>
          </a:solidFill>
          <a:ln w="12700">
            <a:solidFill>
              <a:srgbClr val="2C5F2D">
                <a:alpha val="2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0" y="-2743200"/>
            <a:ext cx="7315200" cy="7315200"/>
          </a:xfrm>
          <a:prstGeom prst="ellipse">
            <a:avLst/>
          </a:prstGeom>
          <a:solidFill>
            <a:srgbClr val="FFC832">
              <a:alpha val="15000"/>
            </a:srgbClr>
          </a:solidFill>
          <a:ln w="12700">
            <a:solidFill>
              <a:srgbClr val="FFC832">
                <a:alpha val="15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5486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0F5E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今天就能做的 3 件事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48640" y="118872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FFC83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写公众号，先从「写」开始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1828800"/>
            <a:ext cx="3657600" cy="3291840"/>
          </a:xfrm>
          <a:prstGeom prst="roundRect">
            <a:avLst>
              <a:gd name="adj" fmla="val 4167"/>
            </a:avLst>
          </a:prstGeom>
          <a:solidFill>
            <a:srgbClr val="243029"/>
          </a:solidFill>
          <a:ln w="25400">
            <a:solidFill>
              <a:srgbClr val="2C5F2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1920240"/>
            <a:ext cx="1371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2C5F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4200" dirty="0"/>
          </a:p>
        </p:txBody>
      </p:sp>
      <p:sp>
        <p:nvSpPr>
          <p:cNvPr id="10" name="Text 8"/>
          <p:cNvSpPr/>
          <p:nvPr/>
        </p:nvSpPr>
        <p:spPr>
          <a:xfrm>
            <a:off x="2011680" y="1965960"/>
            <a:ext cx="2103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0F5E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记今天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731520" y="2743200"/>
            <a:ext cx="3291840" cy="27432"/>
          </a:xfrm>
          <a:prstGeom prst="rect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" y="2880360"/>
            <a:ext cx="320040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Bef>
                <a:spcPts val="400"/>
              </a:spcBef>
              <a:buNone/>
            </a:pPr>
            <a:r>
              <a:rPr lang="en-US" sz="1200" dirty="0">
                <a:solidFill>
                  <a:srgbClr val="F0F5E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今晚写 3 行</a:t>
            </a:r>
            <a:endParaRPr lang="en-US" sz="12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200" dirty="0">
                <a:solidFill>
                  <a:srgbClr val="F0F5E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今天做了什么</a:t>
            </a:r>
            <a:endParaRPr lang="en-US" sz="12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200" dirty="0">
                <a:solidFill>
                  <a:srgbClr val="F0F5E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卡在哪</a:t>
            </a:r>
            <a:endParaRPr lang="en-US" sz="12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200" dirty="0">
                <a:solidFill>
                  <a:srgbClr val="F0F5E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学到什么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480560" y="1828800"/>
            <a:ext cx="3657600" cy="3291840"/>
          </a:xfrm>
          <a:prstGeom prst="roundRect">
            <a:avLst>
              <a:gd name="adj" fmla="val 4167"/>
            </a:avLst>
          </a:prstGeom>
          <a:solidFill>
            <a:srgbClr val="243029"/>
          </a:solidFill>
          <a:ln w="25400">
            <a:solidFill>
              <a:srgbClr val="97BC6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663440" y="1920240"/>
            <a:ext cx="1371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97BC6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4200" dirty="0"/>
          </a:p>
        </p:txBody>
      </p:sp>
      <p:sp>
        <p:nvSpPr>
          <p:cNvPr id="15" name="Text 13"/>
          <p:cNvSpPr/>
          <p:nvPr/>
        </p:nvSpPr>
        <p:spPr>
          <a:xfrm>
            <a:off x="5943600" y="1965960"/>
            <a:ext cx="2103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0F5E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挑 1 个选题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4663440" y="2743200"/>
            <a:ext cx="3291840" cy="27432"/>
          </a:xfrm>
          <a:prstGeom prst="rect">
            <a:avLst/>
          </a:prstGeom>
          <a:solidFill>
            <a:srgbClr val="97BC62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754880" y="2880360"/>
            <a:ext cx="320040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Bef>
                <a:spcPts val="400"/>
              </a:spcBef>
              <a:buNone/>
            </a:pPr>
            <a:r>
              <a:rPr lang="en-US" sz="1200" dirty="0">
                <a:solidFill>
                  <a:srgbClr val="F0F5E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从今天的事里</a:t>
            </a:r>
            <a:endParaRPr lang="en-US" sz="12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200" dirty="0">
                <a:solidFill>
                  <a:srgbClr val="F0F5E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挑 1 个最具体的</a:t>
            </a:r>
            <a:endParaRPr lang="en-US" sz="12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200" dirty="0">
                <a:solidFill>
                  <a:srgbClr val="F0F5E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扩成标题 3 选</a:t>
            </a:r>
            <a:endParaRPr lang="en-US" sz="12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200" dirty="0">
                <a:solidFill>
                  <a:srgbClr val="F0F5E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+ 钩子 1 句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8412480" y="1828800"/>
            <a:ext cx="3657600" cy="3291840"/>
          </a:xfrm>
          <a:prstGeom prst="roundRect">
            <a:avLst>
              <a:gd name="adj" fmla="val 4167"/>
            </a:avLst>
          </a:prstGeom>
          <a:solidFill>
            <a:srgbClr val="243029"/>
          </a:solidFill>
          <a:ln w="25400">
            <a:solidFill>
              <a:srgbClr val="FFC83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595360" y="1920240"/>
            <a:ext cx="1371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C83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4200" dirty="0"/>
          </a:p>
        </p:txBody>
      </p:sp>
      <p:sp>
        <p:nvSpPr>
          <p:cNvPr id="20" name="Text 18"/>
          <p:cNvSpPr/>
          <p:nvPr/>
        </p:nvSpPr>
        <p:spPr>
          <a:xfrm>
            <a:off x="9875520" y="1965960"/>
            <a:ext cx="2103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0F5E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发 1 篇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8595360" y="2743200"/>
            <a:ext cx="3291840" cy="27432"/>
          </a:xfrm>
          <a:prstGeom prst="rect">
            <a:avLst/>
          </a:prstGeom>
          <a:solidFill>
            <a:srgbClr val="FFC832"/>
          </a:solidFill>
          <a:ln w="12700">
            <a:solidFill>
              <a:srgbClr val="FFC83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686800" y="2880360"/>
            <a:ext cx="320040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Bef>
                <a:spcPts val="400"/>
              </a:spcBef>
              <a:buNone/>
            </a:pPr>
            <a:r>
              <a:rPr lang="en-US" sz="1200" dirty="0">
                <a:solidFill>
                  <a:srgbClr val="F0F5E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 7 段骨架</a:t>
            </a:r>
            <a:endParaRPr lang="en-US" sz="12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200" dirty="0">
                <a:solidFill>
                  <a:srgbClr val="F0F5E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写完发布</a:t>
            </a:r>
            <a:endParaRPr lang="en-US" sz="12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200" dirty="0">
                <a:solidFill>
                  <a:srgbClr val="F0F5E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评论区挂 3 关键词</a:t>
            </a:r>
            <a:endParaRPr lang="en-US" sz="12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200" dirty="0">
                <a:solidFill>
                  <a:srgbClr val="F0F5E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真做福利包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48640" y="5349240"/>
            <a:ext cx="11064240" cy="914400"/>
          </a:xfrm>
          <a:prstGeom prst="rect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48640" y="544068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0F5E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🎯 关注「周盛说」视频号 · 看我怎么实现一人公司业务闭环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548640" y="585216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FFC83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评论区留言「公众号」拿今天课件 + 7 段骨架模板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一人公司讲师版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公众号写作全流程</dc:title>
  <dc:subject>PptxGenJS Presentation</dc:subject>
  <dc:creator>周盛 / 视频号「周盛说」</dc:creator>
  <cp:lastModifiedBy>周盛 / 视频号「周盛说」</cp:lastModifiedBy>
  <cp:revision>1</cp:revision>
  <dcterms:created xsi:type="dcterms:W3CDTF">2026-09-30T12:02:15Z</dcterms:created>
  <dcterms:modified xsi:type="dcterms:W3CDTF">2026-09-30T12:02:15Z</dcterms:modified>
</cp:coreProperties>
</file>