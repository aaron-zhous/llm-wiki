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0"/>
          </a:xfrm>
          <a:prstGeom prst="rect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201168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0F5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 0 到 1 搭建个人 AI 知识库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731520" y="310896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C8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 分钟跑通 · 读书 → 铸卡 → 出文案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943600" y="3840480"/>
            <a:ext cx="274320" cy="914400"/>
          </a:xfrm>
          <a:prstGeom prst="rect">
            <a:avLst/>
          </a:prstGeom>
          <a:solidFill>
            <a:srgbClr val="FFC832"/>
          </a:solidFill>
          <a:ln w="12700">
            <a:solidFill>
              <a:srgbClr val="FFC83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4846320"/>
            <a:ext cx="106984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spcBef>
                <a:spcPts val="500"/>
              </a:spcBef>
              <a:buNone/>
            </a:pPr>
            <a:r>
              <a:rPr lang="en-US" sz="1800" b="1" dirty="0">
                <a:solidFill>
                  <a:srgbClr val="F0F5EC"/>
                </a:solidFill>
              </a:rPr>
              <a:t>讲师：周盛</a:t>
            </a:r>
            <a:endParaRPr lang="en-US" sz="1800" dirty="0"/>
          </a:p>
          <a:p>
            <a:pPr algn="ctr" indent="0" marL="0">
              <a:spcBef>
                <a:spcPts val="500"/>
              </a:spcBef>
              <a:buNone/>
            </a:pPr>
            <a:r>
              <a:rPr lang="en-US" sz="1400" dirty="0">
                <a:solidFill>
                  <a:srgbClr val="8FA88B"/>
                </a:solidFill>
              </a:rPr>
              <a:t>视频号「周盛说」· 一人公司第 X 天</a:t>
            </a:r>
            <a:endParaRPr lang="en-US" sz="1800" dirty="0"/>
          </a:p>
          <a:p>
            <a:pPr algn="ctr" indent="0" marL="0">
              <a:spcBef>
                <a:spcPts val="500"/>
              </a:spcBef>
              <a:buNone/>
            </a:pPr>
            <a:r>
              <a:rPr lang="en-US" sz="1200" i="1" dirty="0">
                <a:solidFill>
                  <a:srgbClr val="97BC62"/>
                </a:solidFill>
              </a:rPr>
              <a:t>配套 SOP · 学员版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2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0F5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为什么学了一堆却用不出来？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C8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个卡点，你卡在哪一个？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3657600" cy="4114800"/>
          </a:xfrm>
          <a:prstGeom prst="roundRect">
            <a:avLst>
              <a:gd name="adj" fmla="val 3750"/>
            </a:avLst>
          </a:prstGeom>
          <a:solidFill>
            <a:srgbClr val="243029"/>
          </a:solidFill>
          <a:ln w="12700">
            <a:solidFill>
              <a:srgbClr val="3D544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011680"/>
            <a:ext cx="1371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FC8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5600" dirty="0"/>
          </a:p>
        </p:txBody>
      </p:sp>
      <p:sp>
        <p:nvSpPr>
          <p:cNvPr id="6" name="Text 4"/>
          <p:cNvSpPr/>
          <p:nvPr/>
        </p:nvSpPr>
        <p:spPr>
          <a:xfrm>
            <a:off x="822960" y="320040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0F5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知道要搭，但不行动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22960" y="4023360"/>
            <a:ext cx="31089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Bef>
                <a:spcPts val="500"/>
              </a:spcBef>
              <a:buNone/>
            </a:pPr>
            <a:r>
              <a:rPr lang="en-US" sz="1300" dirty="0">
                <a:solidFill>
                  <a:srgbClr val="8FA8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收藏了一堆文章、买了几门课，工具全下载了，但 3 个月后知识库还是空的。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480560" y="1828800"/>
            <a:ext cx="3657600" cy="4114800"/>
          </a:xfrm>
          <a:prstGeom prst="roundRect">
            <a:avLst>
              <a:gd name="adj" fmla="val 3750"/>
            </a:avLst>
          </a:prstGeom>
          <a:solidFill>
            <a:srgbClr val="243029"/>
          </a:solidFill>
          <a:ln w="12700">
            <a:solidFill>
              <a:srgbClr val="3D544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754880" y="2011680"/>
            <a:ext cx="1371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FC8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5600" dirty="0"/>
          </a:p>
        </p:txBody>
      </p:sp>
      <p:sp>
        <p:nvSpPr>
          <p:cNvPr id="10" name="Text 8"/>
          <p:cNvSpPr/>
          <p:nvPr/>
        </p:nvSpPr>
        <p:spPr>
          <a:xfrm>
            <a:off x="4754880" y="320040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0F5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工具装了，没连起来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754880" y="4023360"/>
            <a:ext cx="31089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Bef>
                <a:spcPts val="500"/>
              </a:spcBef>
              <a:buNone/>
            </a:pPr>
            <a:r>
              <a:rPr lang="en-US" sz="1300" dirty="0">
                <a:solidFill>
                  <a:srgbClr val="8FA8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下了 Obsidian / WorkBuddy / Claude Code，但不知道哪个先装、哪个能用、怎么连。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412480" y="1828800"/>
            <a:ext cx="3657600" cy="4114800"/>
          </a:xfrm>
          <a:prstGeom prst="roundRect">
            <a:avLst>
              <a:gd name="adj" fmla="val 3750"/>
            </a:avLst>
          </a:prstGeom>
          <a:solidFill>
            <a:srgbClr val="243029"/>
          </a:solidFill>
          <a:ln w="12700">
            <a:solidFill>
              <a:srgbClr val="3D544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0" y="2011680"/>
            <a:ext cx="1371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FC8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5600" dirty="0"/>
          </a:p>
        </p:txBody>
      </p:sp>
      <p:sp>
        <p:nvSpPr>
          <p:cNvPr id="14" name="Text 12"/>
          <p:cNvSpPr/>
          <p:nvPr/>
        </p:nvSpPr>
        <p:spPr>
          <a:xfrm>
            <a:off x="8686800" y="320040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0F5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搭了，调不出来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8686800" y="4023360"/>
            <a:ext cx="31089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Bef>
                <a:spcPts val="500"/>
              </a:spcBef>
              <a:buNone/>
            </a:pPr>
            <a:r>
              <a:rPr lang="en-US" sz="1300" dirty="0">
                <a:solidFill>
                  <a:srgbClr val="8FA8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目录建了但 AI 读不懂你的意图，铸了卡但写文章时调不出来用。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48640" y="621792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97BC6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  本 SOP 解决的就是这 3 个卡点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2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0F5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起点 3 件事 · 一句话说清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C8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在动手装工具之前，先把这三者的关系搞清楚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1645920" y="2011680"/>
            <a:ext cx="1828800" cy="1828800"/>
          </a:xfrm>
          <a:prstGeom prst="ellipse">
            <a:avLst/>
          </a:prstGeom>
          <a:solidFill>
            <a:srgbClr val="243029"/>
          </a:solidFill>
          <a:ln w="38100">
            <a:solidFill>
              <a:srgbClr val="97BC6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645920" y="2194560"/>
            <a:ext cx="18288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400" dirty="0">
                <a:solidFill>
                  <a:srgbClr val="000000"/>
                </a:solidFill>
              </a:rPr>
              <a:t>📁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731520" y="402336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0F5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知识库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731520" y="45720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FFC8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Directory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31520" y="5120640"/>
            <a:ext cx="3657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500"/>
              </a:spcBef>
              <a:buNone/>
            </a:pPr>
            <a:r>
              <a:rPr lang="en-US" sz="1200" dirty="0">
                <a:solidFill>
                  <a:srgbClr val="8FA8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就是你的电脑上一个普通文件夹，里面装的是 Markdown 文件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0" y="2011680"/>
            <a:ext cx="1828800" cy="1828800"/>
          </a:xfrm>
          <a:prstGeom prst="ellipse">
            <a:avLst/>
          </a:prstGeom>
          <a:solidFill>
            <a:srgbClr val="243029"/>
          </a:solidFill>
          <a:ln w="38100">
            <a:solidFill>
              <a:srgbClr val="97BC6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0" y="2194560"/>
            <a:ext cx="18288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400" dirty="0">
                <a:solidFill>
                  <a:srgbClr val="000000"/>
                </a:solidFill>
              </a:rPr>
              <a:t>👁️</a:t>
            </a:r>
            <a:endParaRPr lang="en-US" sz="6400" dirty="0"/>
          </a:p>
        </p:txBody>
      </p:sp>
      <p:sp>
        <p:nvSpPr>
          <p:cNvPr id="11" name="Text 9"/>
          <p:cNvSpPr/>
          <p:nvPr/>
        </p:nvSpPr>
        <p:spPr>
          <a:xfrm>
            <a:off x="4572000" y="402336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0F5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Obsidian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4572000" y="45720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FFC8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Browser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72000" y="5120640"/>
            <a:ext cx="3657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500"/>
              </a:spcBef>
              <a:buNone/>
            </a:pPr>
            <a:r>
              <a:rPr lang="en-US" sz="1200" dirty="0">
                <a:solidFill>
                  <a:srgbClr val="8FA8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看这个文件夹的软件，相当于知识库的「浏览器」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326880" y="2011680"/>
            <a:ext cx="1828800" cy="1828800"/>
          </a:xfrm>
          <a:prstGeom prst="ellipse">
            <a:avLst/>
          </a:prstGeom>
          <a:solidFill>
            <a:srgbClr val="243029"/>
          </a:solidFill>
          <a:ln w="38100">
            <a:solidFill>
              <a:srgbClr val="97BC6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326880" y="2194560"/>
            <a:ext cx="18288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400" dirty="0">
                <a:solidFill>
                  <a:srgbClr val="000000"/>
                </a:solidFill>
              </a:rPr>
              <a:t>🤖</a:t>
            </a:r>
            <a:endParaRPr lang="en-US" sz="6400" dirty="0"/>
          </a:p>
        </p:txBody>
      </p:sp>
      <p:sp>
        <p:nvSpPr>
          <p:cNvPr id="16" name="Text 14"/>
          <p:cNvSpPr/>
          <p:nvPr/>
        </p:nvSpPr>
        <p:spPr>
          <a:xfrm>
            <a:off x="8412480" y="402336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0F5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8412480" y="45720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FFC8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Assistant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0" y="5120640"/>
            <a:ext cx="3657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500"/>
              </a:spcBef>
              <a:buNone/>
            </a:pPr>
            <a:r>
              <a:rPr lang="en-US" sz="1200" dirty="0">
                <a:solidFill>
                  <a:srgbClr val="8FA8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能直接读这个文件夹的助手，理解你、帮你整理、帮你写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6400800"/>
            <a:ext cx="11064240" cy="548640"/>
          </a:xfrm>
          <a:prstGeom prst="rect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48640" y="640080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0F5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一句话：知识库 = 目录 · Obsidian = 浏览器 · AI = 助手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2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0F5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为什么用 Markdown 而不是 Word？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C8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这是「你的知识库属于你」的底层保障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5394960" cy="4114800"/>
          </a:xfrm>
          <a:prstGeom prst="roundRect">
            <a:avLst>
              <a:gd name="adj" fmla="val 3333"/>
            </a:avLst>
          </a:prstGeom>
          <a:solidFill>
            <a:srgbClr val="243029"/>
          </a:solidFill>
          <a:ln w="25400">
            <a:solidFill>
              <a:srgbClr val="C4454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103120"/>
            <a:ext cx="5029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085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❌  Word / Notion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502920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Bef>
                <a:spcPts val="500"/>
              </a:spcBef>
              <a:buNone/>
            </a:pPr>
            <a:r>
              <a:rPr lang="en-US" sz="1400" dirty="0">
                <a:solidFill>
                  <a:srgbClr val="8FA88B"/>
                </a:solidFill>
              </a:rPr>
              <a:t>• 锁定在某个软件里</a:t>
            </a:r>
            <a:endParaRPr lang="en-US" sz="1400" dirty="0"/>
          </a:p>
          <a:p>
            <a:pPr indent="0" marL="0">
              <a:spcBef>
                <a:spcPts val="500"/>
              </a:spcBef>
              <a:buNone/>
            </a:pPr>
            <a:r>
              <a:rPr lang="en-US" sz="1400" dirty="0">
                <a:solidFill>
                  <a:srgbClr val="8FA88B"/>
                </a:solidFill>
              </a:rPr>
              <a:t>• 换工具 = 数据迁移噩梦</a:t>
            </a:r>
            <a:endParaRPr lang="en-US" sz="1400" dirty="0"/>
          </a:p>
          <a:p>
            <a:pPr indent="0" marL="0">
              <a:spcBef>
                <a:spcPts val="500"/>
              </a:spcBef>
              <a:buNone/>
            </a:pPr>
            <a:r>
              <a:rPr lang="en-US" sz="1400" dirty="0">
                <a:solidFill>
                  <a:srgbClr val="8FA88B"/>
                </a:solidFill>
              </a:rPr>
              <a:t>• AI 读不懂格式，需要转换</a:t>
            </a:r>
            <a:endParaRPr lang="en-US" sz="1400" dirty="0"/>
          </a:p>
          <a:p>
            <a:pPr indent="0" marL="0">
              <a:spcBef>
                <a:spcPts val="500"/>
              </a:spcBef>
              <a:buNone/>
            </a:pPr>
            <a:r>
              <a:rPr lang="en-US" sz="1400" dirty="0">
                <a:solidFill>
                  <a:srgbClr val="8FA88B"/>
                </a:solidFill>
              </a:rPr>
              <a:t>• 你不拥有数据，平台拥有</a:t>
            </a:r>
            <a:endParaRPr lang="en-US" sz="1400" dirty="0"/>
          </a:p>
          <a:p>
            <a:pPr indent="0" marL="0">
              <a:spcBef>
                <a:spcPts val="500"/>
              </a:spcBef>
              <a:buNone/>
            </a:pPr>
            <a:r>
              <a:rPr lang="en-US" sz="800" dirty="0">
                <a:solidFill>
                  <a:srgbClr val="000000"/>
                </a:solidFill>
              </a:rPr>
              <a:t> </a:t>
            </a:r>
            <a:endParaRPr lang="en-US" sz="1400" dirty="0"/>
          </a:p>
          <a:p>
            <a:pPr indent="0" marL="0">
              <a:spcBef>
                <a:spcPts val="500"/>
              </a:spcBef>
              <a:buNone/>
            </a:pPr>
            <a:r>
              <a:rPr lang="en-US" sz="1400" b="1" i="1" dirty="0">
                <a:solidFill>
                  <a:srgbClr val="E08585"/>
                </a:solidFill>
              </a:rPr>
              <a:t>结果：你被困住了。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17920" y="1920240"/>
            <a:ext cx="5394960" cy="4114800"/>
          </a:xfrm>
          <a:prstGeom prst="roundRect">
            <a:avLst>
              <a:gd name="adj" fmla="val 3333"/>
            </a:avLst>
          </a:prstGeom>
          <a:solidFill>
            <a:srgbClr val="243029"/>
          </a:solidFill>
          <a:ln w="25400">
            <a:solidFill>
              <a:srgbClr val="97BC6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0" y="2103120"/>
            <a:ext cx="5029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7BC6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✅  Markdown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400800" y="2743200"/>
            <a:ext cx="502920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Bef>
                <a:spcPts val="500"/>
              </a:spcBef>
              <a:buNone/>
            </a:pPr>
            <a:r>
              <a:rPr lang="en-US" sz="1400" dirty="0">
                <a:solidFill>
                  <a:srgbClr val="8FA88B"/>
                </a:solidFill>
              </a:rPr>
              <a:t>• 纯文本，任何软件都能打开</a:t>
            </a:r>
            <a:endParaRPr lang="en-US" sz="1400" dirty="0"/>
          </a:p>
          <a:p>
            <a:pPr indent="0" marL="0">
              <a:spcBef>
                <a:spcPts val="500"/>
              </a:spcBef>
              <a:buNone/>
            </a:pPr>
            <a:r>
              <a:rPr lang="en-US" sz="1400" dirty="0">
                <a:solidFill>
                  <a:srgbClr val="8FA88B"/>
                </a:solidFill>
              </a:rPr>
              <a:t>• 换工具 = 复制文件夹就行</a:t>
            </a:r>
            <a:endParaRPr lang="en-US" sz="1400" dirty="0"/>
          </a:p>
          <a:p>
            <a:pPr indent="0" marL="0">
              <a:spcBef>
                <a:spcPts val="500"/>
              </a:spcBef>
              <a:buNone/>
            </a:pPr>
            <a:r>
              <a:rPr lang="en-US" sz="1400" dirty="0">
                <a:solidFill>
                  <a:srgbClr val="8FA88B"/>
                </a:solidFill>
              </a:rPr>
              <a:t>• AI 打开就能理解，零转换</a:t>
            </a:r>
            <a:endParaRPr lang="en-US" sz="1400" dirty="0"/>
          </a:p>
          <a:p>
            <a:pPr indent="0" marL="0">
              <a:spcBef>
                <a:spcPts val="500"/>
              </a:spcBef>
              <a:buNone/>
            </a:pPr>
            <a:r>
              <a:rPr lang="en-US" sz="1400" dirty="0">
                <a:solidFill>
                  <a:srgbClr val="8FA88B"/>
                </a:solidFill>
              </a:rPr>
              <a:t>• 你拥有数据，永远拥有</a:t>
            </a:r>
            <a:endParaRPr lang="en-US" sz="1400" dirty="0"/>
          </a:p>
          <a:p>
            <a:pPr indent="0" marL="0">
              <a:spcBef>
                <a:spcPts val="500"/>
              </a:spcBef>
              <a:buNone/>
            </a:pPr>
            <a:r>
              <a:rPr lang="en-US" sz="800" dirty="0">
                <a:solidFill>
                  <a:srgbClr val="000000"/>
                </a:solidFill>
              </a:rPr>
              <a:t> </a:t>
            </a:r>
            <a:endParaRPr lang="en-US" sz="1400" dirty="0"/>
          </a:p>
          <a:p>
            <a:pPr indent="0" marL="0">
              <a:spcBef>
                <a:spcPts val="500"/>
              </a:spcBef>
              <a:buNone/>
            </a:pPr>
            <a:r>
              <a:rPr lang="en-US" sz="1400" b="1" i="1" dirty="0">
                <a:solidFill>
                  <a:srgbClr val="97BC62"/>
                </a:solidFill>
              </a:rPr>
              <a:t>结果：你随时自由。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48640" y="6309360"/>
            <a:ext cx="11064240" cy="548640"/>
          </a:xfrm>
          <a:prstGeom prst="rect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630936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0F5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你的知识库属于你 —— 这不是口号，是 Markdown 给你最实在的自由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2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0F5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你的知识库工作流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FC8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只管生产内容，归类交给 AI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31520" y="2011680"/>
            <a:ext cx="3566160" cy="3474720"/>
          </a:xfrm>
          <a:prstGeom prst="roundRect">
            <a:avLst>
              <a:gd name="adj" fmla="val 5263"/>
            </a:avLst>
          </a:prstGeom>
          <a:solidFill>
            <a:srgbClr val="243029"/>
          </a:solidFill>
          <a:ln w="25400">
            <a:solidFill>
              <a:srgbClr val="97BC6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219456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C8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1005840" y="3200400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0F5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你只管扔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1005840" y="3840480"/>
            <a:ext cx="914400" cy="45720"/>
          </a:xfrm>
          <a:prstGeom prst="rect">
            <a:avLst/>
          </a:prstGeom>
          <a:solidFill>
            <a:srgbClr val="FFC832"/>
          </a:solidFill>
          <a:ln w="12700">
            <a:solidFill>
              <a:srgbClr val="FFC83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05840" y="4023360"/>
            <a:ext cx="30175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Bef>
                <a:spcPts val="500"/>
              </a:spcBef>
              <a:buNone/>
            </a:pPr>
            <a:r>
              <a:rPr lang="en-US" sz="1300" dirty="0">
                <a:solidFill>
                  <a:srgbClr val="8FA8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 / 链接 / 想法</a:t>
            </a:r>
            <a:endParaRPr lang="en-US" sz="1300" dirty="0"/>
          </a:p>
          <a:p>
            <a:pPr indent="0" marL="0">
              <a:spcBef>
                <a:spcPts val="500"/>
              </a:spcBef>
              <a:buNone/>
            </a:pPr>
            <a:r>
              <a:rPr lang="en-US" sz="1300" dirty="0">
                <a:solidFill>
                  <a:srgbClr val="8FA8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不用想就塞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 rot="5400000">
            <a:off x="4343400" y="3474720"/>
            <a:ext cx="274320" cy="457200"/>
          </a:xfrm>
          <a:prstGeom prst="rightTriangle">
            <a:avLst/>
          </a:prstGeom>
          <a:solidFill>
            <a:srgbClr val="FFC832"/>
          </a:solidFill>
          <a:ln w="12700">
            <a:solidFill>
              <a:srgbClr val="FFC83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0" y="2011680"/>
            <a:ext cx="3566160" cy="3474720"/>
          </a:xfrm>
          <a:prstGeom prst="roundRect">
            <a:avLst>
              <a:gd name="adj" fmla="val 5263"/>
            </a:avLst>
          </a:prstGeom>
          <a:solidFill>
            <a:srgbClr val="243029"/>
          </a:solidFill>
          <a:ln w="25400">
            <a:solidFill>
              <a:srgbClr val="97BC6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46320" y="219456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C8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4846320" y="3200400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0F5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理解 + 归类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4846320" y="3840480"/>
            <a:ext cx="914400" cy="45720"/>
          </a:xfrm>
          <a:prstGeom prst="rect">
            <a:avLst/>
          </a:prstGeom>
          <a:solidFill>
            <a:srgbClr val="FFC832"/>
          </a:solidFill>
          <a:ln w="12700">
            <a:solidFill>
              <a:srgbClr val="FFC83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46320" y="4023360"/>
            <a:ext cx="30175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Bef>
                <a:spcPts val="500"/>
              </a:spcBef>
              <a:buNone/>
            </a:pPr>
            <a:r>
              <a:rPr lang="en-US" sz="1300" dirty="0">
                <a:solidFill>
                  <a:srgbClr val="8FA8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读你的目录结构</a:t>
            </a:r>
            <a:endParaRPr lang="en-US" sz="1300" dirty="0"/>
          </a:p>
          <a:p>
            <a:pPr indent="0" marL="0">
              <a:spcBef>
                <a:spcPts val="500"/>
              </a:spcBef>
              <a:buNone/>
            </a:pPr>
            <a:r>
              <a:rPr lang="en-US" sz="1300" dirty="0">
                <a:solidFill>
                  <a:srgbClr val="8FA8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知道你关心什么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 rot="5400000">
            <a:off x="8183880" y="3474720"/>
            <a:ext cx="274320" cy="457200"/>
          </a:xfrm>
          <a:prstGeom prst="rightTriangle">
            <a:avLst/>
          </a:prstGeom>
          <a:solidFill>
            <a:srgbClr val="FFC832"/>
          </a:solidFill>
          <a:ln w="12700">
            <a:solidFill>
              <a:srgbClr val="FFC83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12480" y="2011680"/>
            <a:ext cx="3566160" cy="3474720"/>
          </a:xfrm>
          <a:prstGeom prst="roundRect">
            <a:avLst>
              <a:gd name="adj" fmla="val 5263"/>
            </a:avLst>
          </a:prstGeom>
          <a:solidFill>
            <a:srgbClr val="243029"/>
          </a:solidFill>
          <a:ln w="25400">
            <a:solidFill>
              <a:srgbClr val="97BC6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686800" y="219456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C8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</a:t>
            </a:r>
            <a:endParaRPr lang="en-US" sz="4800" dirty="0"/>
          </a:p>
        </p:txBody>
      </p:sp>
      <p:sp>
        <p:nvSpPr>
          <p:cNvPr id="18" name="Text 16"/>
          <p:cNvSpPr/>
          <p:nvPr/>
        </p:nvSpPr>
        <p:spPr>
          <a:xfrm>
            <a:off x="8686800" y="3200400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0F5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自动归入目录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8686800" y="3840480"/>
            <a:ext cx="914400" cy="45720"/>
          </a:xfrm>
          <a:prstGeom prst="rect">
            <a:avLst/>
          </a:prstGeom>
          <a:solidFill>
            <a:srgbClr val="FFC832"/>
          </a:solidFill>
          <a:ln w="12700">
            <a:solidFill>
              <a:srgbClr val="FFC83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686800" y="4023360"/>
            <a:ext cx="30175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Bef>
                <a:spcPts val="500"/>
              </a:spcBef>
              <a:buNone/>
            </a:pPr>
            <a:r>
              <a:rPr lang="en-US" sz="1300" dirty="0">
                <a:solidFill>
                  <a:srgbClr val="8FA8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把内容放进</a:t>
            </a:r>
            <a:endParaRPr lang="en-US" sz="1300" dirty="0"/>
          </a:p>
          <a:p>
            <a:pPr indent="0" marL="0">
              <a:spcBef>
                <a:spcPts val="500"/>
              </a:spcBef>
              <a:buNone/>
            </a:pPr>
            <a:r>
              <a:rPr lang="en-US" sz="1300" dirty="0">
                <a:solidFill>
                  <a:srgbClr val="8FA8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最合适的文件夹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48640" y="5943600"/>
            <a:ext cx="11064240" cy="731520"/>
          </a:xfrm>
          <a:prstGeom prst="rect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8640" y="594360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rgbClr val="F0F5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「知识库不是搭出来就有的，是靠一天天往里填内核，长出来的。」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2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0F5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第一步：装 AI 工具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C8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选一个就行，不影响后面的步骤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5394960" cy="4297680"/>
          </a:xfrm>
          <a:prstGeom prst="roundRect">
            <a:avLst>
              <a:gd name="adj" fmla="val 3191"/>
            </a:avLst>
          </a:prstGeom>
          <a:solidFill>
            <a:srgbClr val="243029"/>
          </a:solidFill>
          <a:ln w="25400">
            <a:solidFill>
              <a:srgbClr val="2C5F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011680"/>
            <a:ext cx="5029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C5F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路线 A · 命令行（推荐）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1520" y="256032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FA8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适合：习惯命令行的工程师 / 重度用户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22960" y="3017520"/>
            <a:ext cx="73152" cy="640080"/>
          </a:xfrm>
          <a:prstGeom prst="rect">
            <a:avLst/>
          </a:prstGeom>
          <a:solidFill>
            <a:srgbClr val="FFC832"/>
          </a:solidFill>
          <a:ln w="12700">
            <a:solidFill>
              <a:srgbClr val="FFC83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05840" y="301752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0F5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Claude Code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05840" y="333756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A8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Anthropic 出品 · 功能强 · 能直接操作文件目录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822960" y="3931920"/>
            <a:ext cx="73152" cy="640080"/>
          </a:xfrm>
          <a:prstGeom prst="rect">
            <a:avLst/>
          </a:prstGeom>
          <a:solidFill>
            <a:srgbClr val="FFC832"/>
          </a:solidFill>
          <a:ln w="12700">
            <a:solidFill>
              <a:srgbClr val="FFC83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05840" y="393192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0F5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Hermes Agent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005840" y="425196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A8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公众号/视频号场景最匹配 · 一人公司博主首选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22960" y="4846320"/>
            <a:ext cx="73152" cy="640080"/>
          </a:xfrm>
          <a:prstGeom prst="rect">
            <a:avLst/>
          </a:prstGeom>
          <a:solidFill>
            <a:srgbClr val="FFC832"/>
          </a:solidFill>
          <a:ln w="12700">
            <a:solidFill>
              <a:srgbClr val="FFC83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484632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0F5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Codex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005840" y="516636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A8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OpenAI 生态 · 文档处理强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217920" y="1828800"/>
            <a:ext cx="5394960" cy="4297680"/>
          </a:xfrm>
          <a:prstGeom prst="roundRect">
            <a:avLst>
              <a:gd name="adj" fmla="val 3191"/>
            </a:avLst>
          </a:prstGeom>
          <a:solidFill>
            <a:srgbClr val="243029"/>
          </a:solidFill>
          <a:ln w="25400">
            <a:solidFill>
              <a:srgbClr val="97BC6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0" y="2011680"/>
            <a:ext cx="5029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97BC6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路线 B · 图形界面（备选）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6400800" y="256032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FA8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适合：完全不想敲命令 · 装上就用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492240" y="3017520"/>
            <a:ext cx="73152" cy="640080"/>
          </a:xfrm>
          <a:prstGeom prst="rect">
            <a:avLst/>
          </a:prstGeom>
          <a:solidFill>
            <a:srgbClr val="FFC832"/>
          </a:solidFill>
          <a:ln w="12700">
            <a:solidFill>
              <a:srgbClr val="FFC83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675120" y="301752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0F5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WorkBuddy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675120" y="333756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A8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腾讯出品 · 装好就用 · 门槛最低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492240" y="3931920"/>
            <a:ext cx="73152" cy="640080"/>
          </a:xfrm>
          <a:prstGeom prst="rect">
            <a:avLst/>
          </a:prstGeom>
          <a:solidFill>
            <a:srgbClr val="FFC832"/>
          </a:solidFill>
          <a:ln w="12700">
            <a:solidFill>
              <a:srgbClr val="FFC83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675120" y="393192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0F5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QClaw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675120" y="425196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A8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桌面端 · 国内用户友好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492240" y="4846320"/>
            <a:ext cx="73152" cy="640080"/>
          </a:xfrm>
          <a:prstGeom prst="rect">
            <a:avLst/>
          </a:prstGeom>
          <a:solidFill>
            <a:srgbClr val="FFC832"/>
          </a:solidFill>
          <a:ln w="12700">
            <a:solidFill>
              <a:srgbClr val="FFC83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675120" y="484632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0F5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QoderWork CN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675120" y="516636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A8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中文界面 · 国产替代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48640" y="6309360"/>
            <a:ext cx="11064240" cy="548640"/>
          </a:xfrm>
          <a:prstGeom prst="rect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48640" y="630936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0F5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核心原则：选一个先用起来，先熟悉再换其他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2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0F5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第二步：建最简目录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0" y="0"/>
            <a:ext cx="9144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4 个文件夹够用 · 加 2 个也无妨</a:t>
            </a:r>
            <a:endParaRPr lang="en-US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5303520" cy="4297680"/>
          </a:xfrm>
          <a:prstGeom prst="roundRect">
            <a:avLst>
              <a:gd name="adj" fmla="val 2128"/>
            </a:avLst>
          </a:prstGeom>
          <a:solidFill>
            <a:srgbClr val="0E1A0E"/>
          </a:solidFill>
          <a:ln w="25400">
            <a:solidFill>
              <a:srgbClr val="2C5F2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828800"/>
            <a:ext cx="5303520" cy="365760"/>
          </a:xfrm>
          <a:prstGeom prst="rect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828800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0F5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📁 我的知识库/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237744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7BC6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01-Projects/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474720" y="237744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A8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← 正在做的事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297180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7BC6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02-Areas/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474720" y="29718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A8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← 你的资产（消化过的知识）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31520" y="35661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7BC6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03-Resources/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474720" y="356616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A8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← 外部参考资料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41605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7BC6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04-Archive/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474720" y="416052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A8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← 归档旧项目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31520" y="4754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C8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00-Inbox/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474720" y="47548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A8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← 灵感库（临时停靠）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31520" y="534924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C8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05-Skills/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474720" y="534924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A8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← 技能库（流程/模板）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217920" y="1828800"/>
            <a:ext cx="5394960" cy="4297680"/>
          </a:xfrm>
          <a:prstGeom prst="roundRect">
            <a:avLst>
              <a:gd name="adj" fmla="val 3191"/>
            </a:avLst>
          </a:prstGeom>
          <a:solidFill>
            <a:srgbClr val="243029"/>
          </a:solidFill>
          <a:ln w="25400">
            <a:solidFill>
              <a:srgbClr val="FFC83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0" y="2011680"/>
            <a:ext cx="5029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C8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⚠️ Inbox 唯一的规矩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6400800" y="265176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FA8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灵感库是临时停靠站，不是终点站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400800" y="329184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Bef>
                <a:spcPts val="500"/>
              </a:spcBef>
              <a:buNone/>
            </a:pPr>
            <a:r>
              <a:rPr lang="en-US" sz="1400" dirty="0">
                <a:solidFill>
                  <a:srgbClr val="F0F5EC"/>
                </a:solidFill>
              </a:rPr>
              <a:t>✅  每周花 5 分钟清一次</a:t>
            </a:r>
            <a:endParaRPr lang="en-US" sz="1400" dirty="0"/>
          </a:p>
          <a:p>
            <a:pPr indent="0" marL="0">
              <a:spcBef>
                <a:spcPts val="500"/>
              </a:spcBef>
              <a:buNone/>
            </a:pPr>
            <a:r>
              <a:rPr lang="en-US" sz="1400" dirty="0">
                <a:solidFill>
                  <a:srgbClr val="F0F5EC"/>
                </a:solidFill>
              </a:rPr>
              <a:t>✅  能归类的拖到 Projects/Areas</a:t>
            </a:r>
            <a:endParaRPr lang="en-US" sz="1400" dirty="0"/>
          </a:p>
          <a:p>
            <a:pPr indent="0" marL="0">
              <a:spcBef>
                <a:spcPts val="500"/>
              </a:spcBef>
              <a:buNone/>
            </a:pPr>
            <a:r>
              <a:rPr lang="en-US" sz="1400" dirty="0">
                <a:solidFill>
                  <a:srgbClr val="F0F5EC"/>
                </a:solidFill>
              </a:rPr>
              <a:t>✅  没用的删掉</a:t>
            </a:r>
            <a:endParaRPr lang="en-US" sz="1400" dirty="0"/>
          </a:p>
          <a:p>
            <a:pPr indent="0" marL="0">
              <a:spcBef>
                <a:spcPts val="500"/>
              </a:spcBef>
              <a:buNone/>
            </a:pPr>
            <a:r>
              <a:rPr lang="en-US" sz="800" dirty="0">
                <a:solidFill>
                  <a:srgbClr val="000000"/>
                </a:solidFill>
              </a:rPr>
              <a:t> </a:t>
            </a:r>
            <a:endParaRPr lang="en-US" sz="1400" dirty="0"/>
          </a:p>
          <a:p>
            <a:pPr indent="0" marL="0">
              <a:spcBef>
                <a:spcPts val="500"/>
              </a:spcBef>
              <a:buNone/>
            </a:pPr>
            <a:r>
              <a:rPr lang="en-US" sz="1400" b="1" dirty="0">
                <a:solidFill>
                  <a:srgbClr val="E08585"/>
                </a:solidFill>
              </a:rPr>
              <a:t>❌  只进不出 = Inbox 变成新垃圾场</a:t>
            </a:r>
            <a:endParaRPr lang="en-US" sz="1400" dirty="0"/>
          </a:p>
          <a:p>
            <a:pPr indent="0" marL="0">
              <a:spcBef>
                <a:spcPts val="500"/>
              </a:spcBef>
              <a:buNone/>
            </a:pPr>
            <a:r>
              <a:rPr lang="en-US" sz="800" dirty="0">
                <a:solidFill>
                  <a:srgbClr val="000000"/>
                </a:solidFill>
              </a:rPr>
              <a:t> </a:t>
            </a:r>
            <a:endParaRPr lang="en-US" sz="1400" dirty="0"/>
          </a:p>
          <a:p>
            <a:pPr indent="0" marL="0">
              <a:spcBef>
                <a:spcPts val="500"/>
              </a:spcBef>
              <a:buNone/>
            </a:pPr>
            <a:r>
              <a:rPr lang="en-US" sz="1200" i="1" dirty="0">
                <a:solidFill>
                  <a:srgbClr val="FFC832"/>
                </a:solidFill>
              </a:rPr>
              <a:t>「Inbox 是草稿纸，不是仓库。」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2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0F5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第三步：告诉 AI 每个目录是干嘛的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C8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把这段话发给 AI 一次，它以后就知道了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1064240" cy="3931920"/>
          </a:xfrm>
          <a:prstGeom prst="roundRect">
            <a:avLst>
              <a:gd name="adj" fmla="val 2326"/>
            </a:avLst>
          </a:prstGeom>
          <a:solidFill>
            <a:srgbClr val="0E1A0E"/>
          </a:solidFill>
          <a:ln w="25400">
            <a:solidFill>
              <a:srgbClr val="97BC6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828800"/>
            <a:ext cx="11064240" cy="365760"/>
          </a:xfrm>
          <a:prstGeom prst="rect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8288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41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复制这段，发给你的 AI · 发一次就行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31520" y="2377440"/>
            <a:ext cx="1069848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Bef>
                <a:spcPts val="500"/>
              </a:spcBef>
              <a:buNone/>
            </a:pPr>
            <a:r>
              <a:rPr lang="en-US" sz="1400" dirty="0">
                <a:solidFill>
                  <a:srgbClr val="F0F5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这是我的知识库目录，每个文件夹的用途如下：</a:t>
            </a:r>
            <a:endParaRPr lang="en-US" sz="1400" dirty="0"/>
          </a:p>
          <a:p>
            <a:pPr indent="0" marL="0">
              <a:spcBef>
                <a:spcPts val="500"/>
              </a:spcBef>
              <a:buNone/>
            </a:pPr>
            <a:endParaRPr lang="en-US" sz="1400" dirty="0"/>
          </a:p>
          <a:p>
            <a:pPr indent="0" marL="0">
              <a:spcBef>
                <a:spcPts val="500"/>
              </a:spcBef>
              <a:buNone/>
            </a:pPr>
            <a:r>
              <a:rPr lang="en-US" sz="1400" dirty="0">
                <a:solidFill>
                  <a:srgbClr val="F0F5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- 01-Projects/ = 我正在做的项目。需要了解我当前关注什么时，来这里找。</a:t>
            </a:r>
            <a:endParaRPr lang="en-US" sz="1400" dirty="0"/>
          </a:p>
          <a:p>
            <a:pPr indent="0" marL="0">
              <a:spcBef>
                <a:spcPts val="500"/>
              </a:spcBef>
              <a:buNone/>
            </a:pPr>
            <a:r>
              <a:rPr lang="en-US" sz="1400" dirty="0">
                <a:solidFill>
                  <a:srgbClr val="F0F5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- 02-Areas/ = 我消化的个人知识。需要匹配我已有观点时，来这里。</a:t>
            </a:r>
            <a:endParaRPr lang="en-US" sz="1400" dirty="0"/>
          </a:p>
          <a:p>
            <a:pPr indent="0" marL="0">
              <a:spcBef>
                <a:spcPts val="500"/>
              </a:spcBef>
              <a:buNone/>
            </a:pPr>
            <a:r>
              <a:rPr lang="en-US" sz="1400" dirty="0">
                <a:solidFill>
                  <a:srgbClr val="F0F5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- 03-Resources/ = 外面的参考资料。不是我的原创，仅做参考。</a:t>
            </a:r>
            <a:endParaRPr lang="en-US" sz="1400" dirty="0"/>
          </a:p>
          <a:p>
            <a:pPr indent="0" marL="0">
              <a:spcBef>
                <a:spcPts val="500"/>
              </a:spcBef>
              <a:buNone/>
            </a:pPr>
            <a:r>
              <a:rPr lang="en-US" sz="1400" dirty="0">
                <a:solidFill>
                  <a:srgbClr val="F0F5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- 04-Archive/ = 归档的旧项目。平时不翻，需要历史信息时再来。</a:t>
            </a:r>
            <a:endParaRPr lang="en-US" sz="1400" dirty="0"/>
          </a:p>
          <a:p>
            <a:pPr indent="0" marL="0">
              <a:spcBef>
                <a:spcPts val="500"/>
              </a:spcBef>
              <a:buNone/>
            </a:pPr>
            <a:r>
              <a:rPr lang="en-US" sz="1400" dirty="0">
                <a:solidFill>
                  <a:srgbClr val="F0F5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- 00-Inbox/ = 还没处理的灵感。帮我看看新内容和已知知识连起来吗？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6035040"/>
            <a:ext cx="11064240" cy="731520"/>
          </a:xfrm>
          <a:prstGeom prst="rect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603504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0F5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⚡  发一次就行，不用每次重复 —— AI 记住了，下次你问问题时它自己会用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2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0F5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场景 ①：用 AI 读书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C8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传统 vs AI 读法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5394960" cy="4297680"/>
          </a:xfrm>
          <a:prstGeom prst="roundRect">
            <a:avLst>
              <a:gd name="adj" fmla="val 3191"/>
            </a:avLst>
          </a:prstGeom>
          <a:solidFill>
            <a:srgbClr val="243029"/>
          </a:solidFill>
          <a:ln w="25400">
            <a:solidFill>
              <a:srgbClr val="C4454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011680"/>
            <a:ext cx="5029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085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❌  传统读法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502920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Bef>
                <a:spcPts val="500"/>
              </a:spcBef>
              <a:buNone/>
            </a:pPr>
            <a:r>
              <a:rPr lang="en-US" sz="1400" dirty="0">
                <a:solidFill>
                  <a:srgbClr val="F0F5EC"/>
                </a:solidFill>
              </a:rPr>
              <a:t>①  从头看到尾</a:t>
            </a:r>
            <a:endParaRPr lang="en-US" sz="1400" dirty="0"/>
          </a:p>
          <a:p>
            <a:pPr indent="0" marL="0">
              <a:spcBef>
                <a:spcPts val="500"/>
              </a:spcBef>
              <a:buNone/>
            </a:pPr>
            <a:r>
              <a:rPr lang="en-US" sz="1400" dirty="0">
                <a:solidFill>
                  <a:srgbClr val="F0F5EC"/>
                </a:solidFill>
              </a:rPr>
              <a:t>②  划线</a:t>
            </a:r>
            <a:endParaRPr lang="en-US" sz="1400" dirty="0"/>
          </a:p>
          <a:p>
            <a:pPr indent="0" marL="0">
              <a:spcBef>
                <a:spcPts val="500"/>
              </a:spcBef>
              <a:buNone/>
            </a:pPr>
            <a:r>
              <a:rPr lang="en-US" sz="1400" dirty="0">
                <a:solidFill>
                  <a:srgbClr val="F0F5EC"/>
                </a:solidFill>
              </a:rPr>
              <a:t>③  可能整理笔记</a:t>
            </a:r>
            <a:endParaRPr lang="en-US" sz="1400" dirty="0"/>
          </a:p>
          <a:p>
            <a:pPr indent="0" marL="0">
              <a:spcBef>
                <a:spcPts val="500"/>
              </a:spcBef>
              <a:buNone/>
            </a:pPr>
            <a:r>
              <a:rPr lang="en-US" sz="1400" dirty="0">
                <a:solidFill>
                  <a:srgbClr val="F0F5EC"/>
                </a:solidFill>
              </a:rPr>
              <a:t>④  大概率再也不看</a:t>
            </a:r>
            <a:endParaRPr lang="en-US" sz="1400" dirty="0"/>
          </a:p>
          <a:p>
            <a:pPr indent="0" marL="0">
              <a:spcBef>
                <a:spcPts val="500"/>
              </a:spcBef>
              <a:buNone/>
            </a:pPr>
            <a:r>
              <a:rPr lang="en-US" sz="800" dirty="0">
                <a:solidFill>
                  <a:srgbClr val="000000"/>
                </a:solidFill>
              </a:rPr>
              <a:t> </a:t>
            </a:r>
            <a:endParaRPr lang="en-US" sz="1400" dirty="0"/>
          </a:p>
          <a:p>
            <a:pPr indent="0" marL="0">
              <a:spcBef>
                <a:spcPts val="500"/>
              </a:spcBef>
              <a:buNone/>
            </a:pPr>
            <a:r>
              <a:rPr lang="en-US" sz="1300" b="1" i="1" dirty="0">
                <a:solidFill>
                  <a:srgbClr val="E08585"/>
                </a:solidFill>
              </a:rPr>
              <a:t>结果：读完了 = 自我感动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17920" y="1828800"/>
            <a:ext cx="5394960" cy="4297680"/>
          </a:xfrm>
          <a:prstGeom prst="roundRect">
            <a:avLst>
              <a:gd name="adj" fmla="val 3191"/>
            </a:avLst>
          </a:prstGeom>
          <a:solidFill>
            <a:srgbClr val="243029"/>
          </a:solidFill>
          <a:ln w="25400">
            <a:solidFill>
              <a:srgbClr val="97BC6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0" y="2011680"/>
            <a:ext cx="5029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7BC6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✅  AI 读法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400800" y="2743200"/>
            <a:ext cx="502920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Bef>
                <a:spcPts val="500"/>
              </a:spcBef>
              <a:buNone/>
            </a:pPr>
            <a:r>
              <a:rPr lang="en-US" sz="1400" dirty="0">
                <a:solidFill>
                  <a:srgbClr val="F0F5EC"/>
                </a:solidFill>
              </a:rPr>
              <a:t>①  把书发给 AI</a:t>
            </a:r>
            <a:endParaRPr lang="en-US" sz="1400" dirty="0"/>
          </a:p>
          <a:p>
            <a:pPr indent="0" marL="0">
              <a:spcBef>
                <a:spcPts val="500"/>
              </a:spcBef>
              <a:buNone/>
            </a:pPr>
            <a:r>
              <a:rPr lang="en-US" sz="1400" dirty="0">
                <a:solidFill>
                  <a:srgbClr val="F0F5EC"/>
                </a:solidFill>
              </a:rPr>
              <a:t>②  告诉它你在做什么</a:t>
            </a:r>
            <a:endParaRPr lang="en-US" sz="1400" dirty="0"/>
          </a:p>
          <a:p>
            <a:pPr indent="0" marL="0">
              <a:spcBef>
                <a:spcPts val="500"/>
              </a:spcBef>
              <a:buNone/>
            </a:pPr>
            <a:r>
              <a:rPr lang="en-US" sz="1400" dirty="0">
                <a:solidFill>
                  <a:srgbClr val="F0F5EC"/>
                </a:solidFill>
              </a:rPr>
              <a:t>③  找 3 类内容：相关/相反/可用</a:t>
            </a:r>
            <a:endParaRPr lang="en-US" sz="1400" dirty="0"/>
          </a:p>
          <a:p>
            <a:pPr indent="0" marL="0">
              <a:spcBef>
                <a:spcPts val="500"/>
              </a:spcBef>
              <a:buNone/>
            </a:pPr>
            <a:r>
              <a:rPr lang="en-US" sz="1400" dirty="0">
                <a:solidFill>
                  <a:srgbClr val="F0F5EC"/>
                </a:solidFill>
              </a:rPr>
              <a:t>④  让它铸成卡片存 Areas/</a:t>
            </a:r>
            <a:endParaRPr lang="en-US" sz="1400" dirty="0"/>
          </a:p>
          <a:p>
            <a:pPr indent="0" marL="0">
              <a:spcBef>
                <a:spcPts val="500"/>
              </a:spcBef>
              <a:buNone/>
            </a:pPr>
            <a:r>
              <a:rPr lang="en-US" sz="800" dirty="0">
                <a:solidFill>
                  <a:srgbClr val="000000"/>
                </a:solidFill>
              </a:rPr>
              <a:t> </a:t>
            </a:r>
            <a:endParaRPr lang="en-US" sz="1400" dirty="0"/>
          </a:p>
          <a:p>
            <a:pPr indent="0" marL="0">
              <a:spcBef>
                <a:spcPts val="500"/>
              </a:spcBef>
              <a:buNone/>
            </a:pPr>
            <a:r>
              <a:rPr lang="en-US" sz="1300" b="1" i="1" dirty="0">
                <a:solidFill>
                  <a:srgbClr val="97BC62"/>
                </a:solidFill>
              </a:rPr>
              <a:t>结果：读完立刻能用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48640" y="6309360"/>
            <a:ext cx="11064240" cy="548640"/>
          </a:xfrm>
          <a:prstGeom prst="rect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630936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0F5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做的不是「摘要」，是「找出对你有用的部分」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2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0F5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场景 ②：把个人经验变成知识卡片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C8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经验用出来才叫知识，不用出来只是信息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3657600" cy="4114800"/>
          </a:xfrm>
          <a:prstGeom prst="roundRect">
            <a:avLst>
              <a:gd name="adj" fmla="val 3750"/>
            </a:avLst>
          </a:prstGeom>
          <a:solidFill>
            <a:srgbClr val="243029"/>
          </a:solidFill>
          <a:ln w="25400">
            <a:solidFill>
              <a:srgbClr val="97BC6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011680"/>
            <a:ext cx="1371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FC8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5600" dirty="0"/>
          </a:p>
        </p:txBody>
      </p:sp>
      <p:sp>
        <p:nvSpPr>
          <p:cNvPr id="6" name="Text 4"/>
          <p:cNvSpPr/>
          <p:nvPr/>
        </p:nvSpPr>
        <p:spPr>
          <a:xfrm>
            <a:off x="822960" y="3108960"/>
            <a:ext cx="3108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0F5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写到 Inbox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822960" y="3840480"/>
            <a:ext cx="914400" cy="45720"/>
          </a:xfrm>
          <a:prstGeom prst="rect">
            <a:avLst/>
          </a:prstGeom>
          <a:solidFill>
            <a:srgbClr val="FFC832"/>
          </a:solidFill>
          <a:ln w="12700">
            <a:solidFill>
              <a:srgbClr val="FFC83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4023360"/>
            <a:ext cx="31089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Bef>
                <a:spcPts val="500"/>
              </a:spcBef>
              <a:buNone/>
            </a:pPr>
            <a:r>
              <a:rPr lang="en-US" sz="1300" dirty="0">
                <a:solidFill>
                  <a:srgbClr val="8FA8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把今天的感悟、踩坑、反思写进 00-Inbox/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 rot="5400000">
            <a:off x="4251960" y="3657600"/>
            <a:ext cx="274320" cy="457200"/>
          </a:xfrm>
          <a:prstGeom prst="rightTriangle">
            <a:avLst/>
          </a:prstGeom>
          <a:solidFill>
            <a:srgbClr val="FFC832"/>
          </a:solidFill>
          <a:ln w="12700">
            <a:solidFill>
              <a:srgbClr val="FFC83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480560" y="1828800"/>
            <a:ext cx="3657600" cy="4114800"/>
          </a:xfrm>
          <a:prstGeom prst="roundRect">
            <a:avLst>
              <a:gd name="adj" fmla="val 3750"/>
            </a:avLst>
          </a:prstGeom>
          <a:solidFill>
            <a:srgbClr val="243029"/>
          </a:solidFill>
          <a:ln w="25400">
            <a:solidFill>
              <a:srgbClr val="97BC6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54880" y="2011680"/>
            <a:ext cx="1371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FC8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5600" dirty="0"/>
          </a:p>
        </p:txBody>
      </p:sp>
      <p:sp>
        <p:nvSpPr>
          <p:cNvPr id="12" name="Text 10"/>
          <p:cNvSpPr/>
          <p:nvPr/>
        </p:nvSpPr>
        <p:spPr>
          <a:xfrm>
            <a:off x="4754880" y="3108960"/>
            <a:ext cx="3108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0F5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 AI 提炼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4754880" y="3840480"/>
            <a:ext cx="914400" cy="45720"/>
          </a:xfrm>
          <a:prstGeom prst="rect">
            <a:avLst/>
          </a:prstGeom>
          <a:solidFill>
            <a:srgbClr val="FFC832"/>
          </a:solidFill>
          <a:ln w="12700">
            <a:solidFill>
              <a:srgbClr val="FFC83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54880" y="4023360"/>
            <a:ext cx="31089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Bef>
                <a:spcPts val="500"/>
              </a:spcBef>
              <a:buNone/>
            </a:pPr>
            <a:r>
              <a:rPr lang="en-US" sz="1300" dirty="0">
                <a:solidFill>
                  <a:srgbClr val="8FA8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 AI 读你的 Inbox + 已有 Areas，找出关联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 rot="5400000">
            <a:off x="8183880" y="3657600"/>
            <a:ext cx="274320" cy="457200"/>
          </a:xfrm>
          <a:prstGeom prst="rightTriangle">
            <a:avLst/>
          </a:prstGeom>
          <a:solidFill>
            <a:srgbClr val="FFC832"/>
          </a:solidFill>
          <a:ln w="12700">
            <a:solidFill>
              <a:srgbClr val="FFC83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12480" y="1828800"/>
            <a:ext cx="3657600" cy="4114800"/>
          </a:xfrm>
          <a:prstGeom prst="roundRect">
            <a:avLst>
              <a:gd name="adj" fmla="val 3750"/>
            </a:avLst>
          </a:prstGeom>
          <a:solidFill>
            <a:srgbClr val="243029"/>
          </a:solidFill>
          <a:ln w="25400">
            <a:solidFill>
              <a:srgbClr val="97BC6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686800" y="2011680"/>
            <a:ext cx="1371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FC8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5600" dirty="0"/>
          </a:p>
        </p:txBody>
      </p:sp>
      <p:sp>
        <p:nvSpPr>
          <p:cNvPr id="18" name="Text 16"/>
          <p:cNvSpPr/>
          <p:nvPr/>
        </p:nvSpPr>
        <p:spPr>
          <a:xfrm>
            <a:off x="8686800" y="3108960"/>
            <a:ext cx="3108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0F5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铸卡存 Areas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8686800" y="3840480"/>
            <a:ext cx="914400" cy="45720"/>
          </a:xfrm>
          <a:prstGeom prst="rect">
            <a:avLst/>
          </a:prstGeom>
          <a:solidFill>
            <a:srgbClr val="FFC832"/>
          </a:solidFill>
          <a:ln w="12700">
            <a:solidFill>
              <a:srgbClr val="FFC83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686800" y="4023360"/>
            <a:ext cx="31089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Bef>
                <a:spcPts val="500"/>
              </a:spcBef>
              <a:buNone/>
            </a:pPr>
            <a:r>
              <a:rPr lang="en-US" sz="1300" dirty="0">
                <a:solidFill>
                  <a:srgbClr val="8FA8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凝练成知识卡片，包含核心判断+边界+连接点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48640" y="6217920"/>
            <a:ext cx="11064240" cy="640080"/>
          </a:xfrm>
          <a:prstGeom prst="rect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8640" y="621792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0F5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经验不流失，而且每次新卡片都和已有卡片连起来 —— 你的知识库会越长越密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A2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0F5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场景 ③：把知识卡片变成口播文案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C8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你真正在做的事：读书 → 攒卡片 → 拍视频时直接调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1371600" y="1828800"/>
            <a:ext cx="9418320" cy="2743200"/>
          </a:xfrm>
          <a:prstGeom prst="roundRect">
            <a:avLst>
              <a:gd name="adj" fmla="val 5000"/>
            </a:avLst>
          </a:prstGeom>
          <a:solidFill>
            <a:srgbClr val="243029"/>
          </a:solidFill>
          <a:ln w="25400">
            <a:solidFill>
              <a:srgbClr val="2C5F2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37360" y="2377440"/>
            <a:ext cx="1280160" cy="1280160"/>
          </a:xfrm>
          <a:prstGeom prst="ellipse">
            <a:avLst/>
          </a:prstGeom>
          <a:solidFill>
            <a:srgbClr val="2C5F2D"/>
          </a:solidFill>
          <a:ln w="25400">
            <a:solidFill>
              <a:srgbClr val="2C5F2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737360" y="2377440"/>
            <a:ext cx="12801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000000"/>
                </a:solidFill>
              </a:rPr>
              <a:t>📚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1463040" y="374904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0F5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读书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 rot="5400000">
            <a:off x="3108960" y="2834640"/>
            <a:ext cx="274320" cy="457200"/>
          </a:xfrm>
          <a:prstGeom prst="rightTriangle">
            <a:avLst/>
          </a:prstGeom>
          <a:solidFill>
            <a:srgbClr val="FFC832"/>
          </a:solidFill>
          <a:ln w="12700">
            <a:solidFill>
              <a:srgbClr val="FFC83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566160" y="2377440"/>
            <a:ext cx="1280160" cy="1280160"/>
          </a:xfrm>
          <a:prstGeom prst="ellipse">
            <a:avLst/>
          </a:prstGeom>
          <a:solidFill>
            <a:srgbClr val="97BC62"/>
          </a:solidFill>
          <a:ln w="25400">
            <a:solidFill>
              <a:srgbClr val="97BC6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566160" y="2377440"/>
            <a:ext cx="12801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000000"/>
                </a:solidFill>
              </a:rPr>
              <a:t>💡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3291840" y="374904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0F5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思考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 rot="5400000">
            <a:off x="4937760" y="2834640"/>
            <a:ext cx="274320" cy="457200"/>
          </a:xfrm>
          <a:prstGeom prst="rightTriangle">
            <a:avLst/>
          </a:prstGeom>
          <a:solidFill>
            <a:srgbClr val="FFC832"/>
          </a:solidFill>
          <a:ln w="12700">
            <a:solidFill>
              <a:srgbClr val="FFC83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394960" y="2377440"/>
            <a:ext cx="1280160" cy="1280160"/>
          </a:xfrm>
          <a:prstGeom prst="ellipse">
            <a:avLst/>
          </a:prstGeom>
          <a:solidFill>
            <a:srgbClr val="FFC832"/>
          </a:solidFill>
          <a:ln w="25400">
            <a:solidFill>
              <a:srgbClr val="FFC83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394960" y="2377440"/>
            <a:ext cx="12801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000000"/>
                </a:solidFill>
              </a:rPr>
              <a:t>🃏</a:t>
            </a:r>
            <a:endParaRPr lang="en-US" sz="3600" dirty="0"/>
          </a:p>
        </p:txBody>
      </p:sp>
      <p:sp>
        <p:nvSpPr>
          <p:cNvPr id="15" name="Text 13"/>
          <p:cNvSpPr/>
          <p:nvPr/>
        </p:nvSpPr>
        <p:spPr>
          <a:xfrm>
            <a:off x="5120640" y="374904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0F5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攒卡片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 rot="5400000">
            <a:off x="6766560" y="2834640"/>
            <a:ext cx="274320" cy="457200"/>
          </a:xfrm>
          <a:prstGeom prst="rightTriangle">
            <a:avLst/>
          </a:prstGeom>
          <a:solidFill>
            <a:srgbClr val="FFC832"/>
          </a:solidFill>
          <a:ln w="12700">
            <a:solidFill>
              <a:srgbClr val="FFC83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223760" y="2377440"/>
            <a:ext cx="1280160" cy="1280160"/>
          </a:xfrm>
          <a:prstGeom prst="ellipse">
            <a:avLst/>
          </a:prstGeom>
          <a:solidFill>
            <a:srgbClr val="97BC62"/>
          </a:solidFill>
          <a:ln w="25400">
            <a:solidFill>
              <a:srgbClr val="97BC6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223760" y="2377440"/>
            <a:ext cx="12801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000000"/>
                </a:solidFill>
              </a:rPr>
              <a:t>🔍</a:t>
            </a:r>
            <a:endParaRPr lang="en-US" sz="3600" dirty="0"/>
          </a:p>
        </p:txBody>
      </p:sp>
      <p:sp>
        <p:nvSpPr>
          <p:cNvPr id="19" name="Text 17"/>
          <p:cNvSpPr/>
          <p:nvPr/>
        </p:nvSpPr>
        <p:spPr>
          <a:xfrm>
            <a:off x="6949440" y="374904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0F5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调卡片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 rot="5400000">
            <a:off x="8595360" y="2834640"/>
            <a:ext cx="274320" cy="457200"/>
          </a:xfrm>
          <a:prstGeom prst="rightTriangle">
            <a:avLst/>
          </a:prstGeom>
          <a:solidFill>
            <a:srgbClr val="FFC832"/>
          </a:solidFill>
          <a:ln w="12700">
            <a:solidFill>
              <a:srgbClr val="FFC83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052560" y="2377440"/>
            <a:ext cx="1280160" cy="1280160"/>
          </a:xfrm>
          <a:prstGeom prst="ellipse">
            <a:avLst/>
          </a:prstGeom>
          <a:solidFill>
            <a:srgbClr val="FFC832"/>
          </a:solidFill>
          <a:ln w="25400">
            <a:solidFill>
              <a:srgbClr val="FFC83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052560" y="2377440"/>
            <a:ext cx="12801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000000"/>
                </a:solidFill>
              </a:rPr>
              <a:t>🎙️</a:t>
            </a:r>
            <a:endParaRPr lang="en-US" sz="3600" dirty="0"/>
          </a:p>
        </p:txBody>
      </p:sp>
      <p:sp>
        <p:nvSpPr>
          <p:cNvPr id="23" name="Text 21"/>
          <p:cNvSpPr/>
          <p:nvPr/>
        </p:nvSpPr>
        <p:spPr>
          <a:xfrm>
            <a:off x="8778240" y="374904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0F5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出口播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548640" y="4937760"/>
            <a:ext cx="11064240" cy="1645920"/>
          </a:xfrm>
          <a:prstGeom prst="rect">
            <a:avLst>
              <a:gd name="adj" fmla="val 5556"/>
            </a:avLst>
          </a:prstGeom>
          <a:solidFill>
            <a:srgbClr val="243029"/>
          </a:solidFill>
          <a:ln w="25400">
            <a:solidFill>
              <a:srgbClr val="FFC83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1520" y="5029200"/>
            <a:ext cx="106984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Bef>
                <a:spcPts val="500"/>
              </a:spcBef>
              <a:buNone/>
            </a:pPr>
            <a:r>
              <a:rPr lang="en-US" sz="1600" b="1" dirty="0">
                <a:solidFill>
                  <a:srgbClr val="FFC832"/>
                </a:solidFill>
              </a:rPr>
              <a:t>💡  关键认知</a:t>
            </a:r>
            <a:endParaRPr lang="en-US" sz="1600" dirty="0"/>
          </a:p>
          <a:p>
            <a:pPr indent="0" marL="0">
              <a:spcBef>
                <a:spcPts val="500"/>
              </a:spcBef>
              <a:buNone/>
            </a:pPr>
            <a:r>
              <a:rPr lang="en-US" sz="800" dirty="0">
                <a:solidFill>
                  <a:srgbClr val="000000"/>
                </a:solidFill>
              </a:rPr>
              <a:t> </a:t>
            </a:r>
            <a:endParaRPr lang="en-US" sz="1600" dirty="0"/>
          </a:p>
          <a:p>
            <a:pPr indent="0" marL="0">
              <a:spcBef>
                <a:spcPts val="500"/>
              </a:spcBef>
              <a:buNone/>
            </a:pPr>
            <a:r>
              <a:rPr lang="en-US" sz="1800" b="1" dirty="0">
                <a:solidFill>
                  <a:srgbClr val="F0F5EC"/>
                </a:solidFill>
              </a:rPr>
              <a:t>从「从零开始写」  →  「修改 AI 的初稿」</a:t>
            </a:r>
            <a:endParaRPr lang="en-US" sz="1600" dirty="0"/>
          </a:p>
          <a:p>
            <a:pPr indent="0" marL="0">
              <a:spcBef>
                <a:spcPts val="500"/>
              </a:spcBef>
              <a:buNone/>
            </a:pPr>
            <a:r>
              <a:rPr lang="en-US" sz="800" dirty="0">
                <a:solidFill>
                  <a:srgbClr val="000000"/>
                </a:solidFill>
              </a:rPr>
              <a:t> </a:t>
            </a:r>
            <a:endParaRPr lang="en-US" sz="1600" dirty="0"/>
          </a:p>
          <a:p>
            <a:pPr indent="0" marL="0">
              <a:spcBef>
                <a:spcPts val="500"/>
              </a:spcBef>
              <a:buNone/>
            </a:pPr>
            <a:r>
              <a:rPr lang="en-US" sz="1300" i="1" dirty="0">
                <a:solidFill>
                  <a:srgbClr val="8FA88B"/>
                </a:solidFill>
              </a:rPr>
              <a:t>卡片越多 → 出内容越快 → 你的护城河越深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A2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0F5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 分钟自检清单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C8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跑完整个 SOP · 5 项打勾 = 你已经超越了 80% 的人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914400" y="2103120"/>
            <a:ext cx="457200" cy="457200"/>
          </a:xfrm>
          <a:prstGeom prst="rect">
            <a:avLst/>
          </a:prstGeom>
          <a:solidFill>
            <a:srgbClr val="1A2419"/>
          </a:solidFill>
          <a:ln w="38100">
            <a:solidFill>
              <a:srgbClr val="FFC83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2103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C8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1554480" y="210312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97BC6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#1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2560320" y="2103120"/>
            <a:ext cx="8961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0F5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装了 1 个 AI 工具（CLI 或 GUI 任选）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914400" y="2880360"/>
            <a:ext cx="457200" cy="457200"/>
          </a:xfrm>
          <a:prstGeom prst="rect">
            <a:avLst/>
          </a:prstGeom>
          <a:solidFill>
            <a:srgbClr val="1A2419"/>
          </a:solidFill>
          <a:ln w="38100">
            <a:solidFill>
              <a:srgbClr val="FFC83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28803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C8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1554480" y="288036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97BC6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#2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2560320" y="2880360"/>
            <a:ext cx="8961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0F5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建好 4-6 个目录（Projects / Areas / Resources / Archive / Inbox / Skills）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914400" y="3657600"/>
            <a:ext cx="457200" cy="457200"/>
          </a:xfrm>
          <a:prstGeom prst="rect">
            <a:avLst/>
          </a:prstGeom>
          <a:solidFill>
            <a:srgbClr val="1A2419"/>
          </a:solidFill>
          <a:ln w="38100">
            <a:solidFill>
              <a:srgbClr val="FFC83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4400" y="36576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C8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1554480" y="365760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97BC6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#3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2560320" y="3657600"/>
            <a:ext cx="8961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0F5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把「目录用途」那段话发给了 AI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914400" y="4434840"/>
            <a:ext cx="457200" cy="457200"/>
          </a:xfrm>
          <a:prstGeom prst="rect">
            <a:avLst/>
          </a:prstGeom>
          <a:solidFill>
            <a:srgbClr val="1A2419"/>
          </a:solidFill>
          <a:ln w="38100">
            <a:solidFill>
              <a:srgbClr val="FFC83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44348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C8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1554480" y="443484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97BC6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#4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2560320" y="4434840"/>
            <a:ext cx="8961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0F5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跑了至少 1 个场景（读书 / 铸卡 / 口播）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914400" y="5212080"/>
            <a:ext cx="457200" cy="457200"/>
          </a:xfrm>
          <a:prstGeom prst="rect">
            <a:avLst/>
          </a:prstGeom>
          <a:solidFill>
            <a:srgbClr val="1A2419"/>
          </a:solidFill>
          <a:ln w="38100">
            <a:solidFill>
              <a:srgbClr val="FFC83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5212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C8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</a:t>
            </a:r>
            <a:endParaRPr lang="en-US" sz="2800" dirty="0"/>
          </a:p>
        </p:txBody>
      </p:sp>
      <p:sp>
        <p:nvSpPr>
          <p:cNvPr id="22" name="Text 20"/>
          <p:cNvSpPr/>
          <p:nvPr/>
        </p:nvSpPr>
        <p:spPr>
          <a:xfrm>
            <a:off x="1554480" y="521208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97BC6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#5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2560320" y="5212080"/>
            <a:ext cx="8961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0F5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把第 1 张知识卡片存进了 02-Areas/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548640" y="6126480"/>
            <a:ext cx="11064240" cy="731520"/>
          </a:xfrm>
          <a:prstGeom prst="rect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48640" y="612648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rgbClr val="F0F5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少于 4 项 → 重新跑 SOP —— 不是你的问题，是流程需要再走一遍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A2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0F5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常见错误 · 这些坑我替你踩过了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394960" cy="2103120"/>
          </a:xfrm>
          <a:prstGeom prst="roundRect">
            <a:avLst>
              <a:gd name="adj" fmla="val 6522"/>
            </a:avLst>
          </a:prstGeom>
          <a:solidFill>
            <a:srgbClr val="243029"/>
          </a:solidFill>
          <a:ln w="12700">
            <a:solidFill>
              <a:srgbClr val="C4454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164592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❌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1645920" y="164592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085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按类别分类目录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645920" y="2194560"/>
            <a:ext cx="41148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Bef>
                <a:spcPts val="500"/>
              </a:spcBef>
              <a:buNone/>
            </a:pPr>
            <a:r>
              <a:rPr lang="en-US" sz="1200" dirty="0">
                <a:solidFill>
                  <a:srgbClr val="8FA8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哲学/技能/读书笔记分类 —— AI 读不懂，对你也没用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217920" y="1463040"/>
            <a:ext cx="5394960" cy="2103120"/>
          </a:xfrm>
          <a:prstGeom prst="roundRect">
            <a:avLst>
              <a:gd name="adj" fmla="val 6522"/>
            </a:avLst>
          </a:prstGeom>
          <a:solidFill>
            <a:srgbClr val="243029"/>
          </a:solidFill>
          <a:ln w="12700">
            <a:solidFill>
              <a:srgbClr val="C4454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0" y="164592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❌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7315200" y="164592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085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Inbox 一直不清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2194560"/>
            <a:ext cx="41148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Bef>
                <a:spcPts val="500"/>
              </a:spcBef>
              <a:buNone/>
            </a:pPr>
            <a:r>
              <a:rPr lang="en-US" sz="1200" dirty="0">
                <a:solidFill>
                  <a:srgbClr val="8FA8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只进不出 → 30 天后变成新垃圾场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8640" y="3931920"/>
            <a:ext cx="5394960" cy="2103120"/>
          </a:xfrm>
          <a:prstGeom prst="roundRect">
            <a:avLst>
              <a:gd name="adj" fmla="val 6522"/>
            </a:avLst>
          </a:prstGeom>
          <a:solidFill>
            <a:srgbClr val="243029"/>
          </a:solidFill>
          <a:ln w="12700">
            <a:solidFill>
              <a:srgbClr val="C4454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411480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❌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1645920" y="411480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085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铸完卡就扔着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45920" y="4663440"/>
            <a:ext cx="41148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Bef>
                <a:spcPts val="500"/>
              </a:spcBef>
              <a:buNone/>
            </a:pPr>
            <a:r>
              <a:rPr lang="en-US" sz="1200" dirty="0">
                <a:solidFill>
                  <a:srgbClr val="8FA8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不调出来用，卡片就是死的资产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217920" y="3931920"/>
            <a:ext cx="5394960" cy="2103120"/>
          </a:xfrm>
          <a:prstGeom prst="roundRect">
            <a:avLst>
              <a:gd name="adj" fmla="val 6522"/>
            </a:avLst>
          </a:prstGeom>
          <a:solidFill>
            <a:srgbClr val="243029"/>
          </a:solidFill>
          <a:ln w="12700">
            <a:solidFill>
              <a:srgbClr val="C4454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0" y="411480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❌</a:t>
            </a:r>
            <a:endParaRPr lang="en-US" sz="3200" dirty="0"/>
          </a:p>
        </p:txBody>
      </p:sp>
      <p:sp>
        <p:nvSpPr>
          <p:cNvPr id="17" name="Text 15"/>
          <p:cNvSpPr/>
          <p:nvPr/>
        </p:nvSpPr>
        <p:spPr>
          <a:xfrm>
            <a:off x="7315200" y="411480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085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不会用就放弃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7315200" y="4663440"/>
            <a:ext cx="41148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Bef>
                <a:spcPts val="500"/>
              </a:spcBef>
              <a:buNone/>
            </a:pPr>
            <a:r>
              <a:rPr lang="en-US" sz="1200" dirty="0">
                <a:solidFill>
                  <a:srgbClr val="8FA8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直接问 AI，让 AI 自己解决自己的问题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6309360"/>
            <a:ext cx="11064240" cy="548640"/>
          </a:xfrm>
          <a:prstGeom prst="rect">
            <a:avLst/>
          </a:prstGeom>
          <a:solidFill>
            <a:srgbClr val="FFC832"/>
          </a:solidFill>
          <a:ln w="12700">
            <a:solidFill>
              <a:srgbClr val="FFC83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48640" y="630936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241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⚡  遇到问题直接问 AI —— 你不需要记住所有细节，会用就行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A2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0"/>
          </a:xfrm>
          <a:prstGeom prst="rect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1371600"/>
            <a:ext cx="10698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0F5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从今天开始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731520" y="246888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i="1" dirty="0">
                <a:solidFill>
                  <a:srgbClr val="FFC8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像往篮子里扔东西一样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329184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8FA8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往 Inbox 扔一条笔记就好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943600" y="4389120"/>
            <a:ext cx="274320" cy="457200"/>
          </a:xfrm>
          <a:prstGeom prst="rect">
            <a:avLst/>
          </a:prstGeom>
          <a:solidFill>
            <a:srgbClr val="FFC832"/>
          </a:solidFill>
          <a:ln w="12700">
            <a:solidFill>
              <a:srgbClr val="FFC83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4937760"/>
            <a:ext cx="106984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500"/>
              </a:spcBef>
              <a:buNone/>
            </a:pPr>
            <a:r>
              <a:rPr lang="en-US" sz="1800" b="1" dirty="0">
                <a:solidFill>
                  <a:srgbClr val="F0F5EC"/>
                </a:solidFill>
              </a:rPr>
              <a:t>📞 找到我</a:t>
            </a:r>
            <a:endParaRPr lang="en-US" sz="1800" dirty="0"/>
          </a:p>
          <a:p>
            <a:pPr algn="ctr" indent="0" marL="0">
              <a:spcBef>
                <a:spcPts val="500"/>
              </a:spcBef>
              <a:buNone/>
            </a:pPr>
            <a:r>
              <a:rPr lang="en-US" sz="800" dirty="0">
                <a:solidFill>
                  <a:srgbClr val="000000"/>
                </a:solidFill>
              </a:rPr>
              <a:t> </a:t>
            </a:r>
            <a:endParaRPr lang="en-US" sz="1800" dirty="0"/>
          </a:p>
          <a:p>
            <a:pPr algn="ctr" indent="0" marL="0">
              <a:spcBef>
                <a:spcPts val="500"/>
              </a:spcBef>
              <a:buNone/>
            </a:pPr>
            <a:r>
              <a:rPr lang="en-US" sz="1600" dirty="0">
                <a:solidFill>
                  <a:srgbClr val="F0F5EC"/>
                </a:solidFill>
              </a:rPr>
              <a:t>视频号「周盛说」</a:t>
            </a:r>
            <a:endParaRPr lang="en-US" sz="1800" dirty="0"/>
          </a:p>
          <a:p>
            <a:pPr algn="ctr" indent="0" marL="0">
              <a:spcBef>
                <a:spcPts val="500"/>
              </a:spcBef>
              <a:buNone/>
            </a:pPr>
            <a:r>
              <a:rPr lang="en-US" sz="1400" dirty="0">
                <a:solidFill>
                  <a:srgbClr val="97BC62"/>
                </a:solidFill>
              </a:rPr>
              <a:t>新人训练营 · 每周直播答疑</a:t>
            </a:r>
            <a:endParaRPr lang="en-US" sz="1800" dirty="0"/>
          </a:p>
          <a:p>
            <a:pPr algn="ctr" indent="0" marL="0">
              <a:spcBef>
                <a:spcPts val="500"/>
              </a:spcBef>
              <a:buNone/>
            </a:pPr>
            <a:r>
              <a:rPr lang="en-US" sz="1400" dirty="0">
                <a:solidFill>
                  <a:srgbClr val="97BC62"/>
                </a:solidFill>
              </a:rPr>
              <a:t>Obsidian 私人定制 / 远程搭建</a:t>
            </a:r>
            <a:endParaRPr lang="en-US" sz="1800" dirty="0"/>
          </a:p>
          <a:p>
            <a:pPr algn="ctr" indent="0" marL="0">
              <a:spcBef>
                <a:spcPts val="500"/>
              </a:spcBef>
              <a:buNone/>
            </a:pPr>
            <a:r>
              <a:rPr lang="en-US" sz="800" dirty="0">
                <a:solidFill>
                  <a:srgbClr val="000000"/>
                </a:solidFill>
              </a:rPr>
              <a:t> </a:t>
            </a:r>
            <a:endParaRPr lang="en-US" sz="1800" dirty="0"/>
          </a:p>
          <a:p>
            <a:pPr algn="ctr" indent="0" marL="0">
              <a:spcBef>
                <a:spcPts val="500"/>
              </a:spcBef>
              <a:buNone/>
            </a:pPr>
            <a:r>
              <a:rPr lang="en-US" sz="1400" b="1" dirty="0">
                <a:solidFill>
                  <a:srgbClr val="FFC832"/>
                </a:solidFill>
              </a:rPr>
              <a:t>👇  扫 / 戳 / 搜  「周盛说」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新人训练营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知识库搭建 SOP · 周盛讲师版</dc:title>
  <dc:subject>PptxGenJS Presentation</dc:subject>
  <dc:creator>周盛 / 视频号「周盛说」</dc:creator>
  <cp:lastModifiedBy>周盛 / 视频号「周盛说」</cp:lastModifiedBy>
  <cp:revision>1</cp:revision>
  <dcterms:created xsi:type="dcterms:W3CDTF">2026-09-01T08:23:44Z</dcterms:created>
  <dcterms:modified xsi:type="dcterms:W3CDTF">2026-09-01T08:23:44Z</dcterms:modified>
</cp:coreProperties>
</file>