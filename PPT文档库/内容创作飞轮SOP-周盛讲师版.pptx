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内容创作飞轮系统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从「每天从零开始」到「资产复利累积」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天跑通飞轮 · 一年积累 300+ 张可复用资产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0" y="4206240"/>
            <a:ext cx="274320" cy="9144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21208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F0F5EC"/>
                </a:solidFill>
              </a:rPr>
              <a:t>讲师：周盛</a:t>
            </a:r>
            <a:endParaRPr lang="en-US" sz="18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400" dirty="0">
                <a:solidFill>
                  <a:srgbClr val="8FA88B"/>
                </a:solidFill>
              </a:rPr>
              <a:t>视频号「周盛说」· 一人公司第 X 天</a:t>
            </a:r>
            <a:endParaRPr lang="en-US" sz="1800" dirty="0"/>
          </a:p>
          <a:p>
            <a:pPr algn="ctr" indent="0" marL="0">
              <a:spcBef>
                <a:spcPts val="500"/>
              </a:spcBef>
              <a:buNone/>
            </a:pPr>
            <a:r>
              <a:rPr lang="en-US" sz="1200" i="1" dirty="0">
                <a:solidFill>
                  <a:srgbClr val="97BC62"/>
                </a:solidFill>
              </a:rPr>
              <a:t>配套 SOP · 学员版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先问你一个问题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你上个月发的 10 条内容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这个月还能用几条？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大部分人的答案是：0 条。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3035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我们生产的内容，大部分都是消耗品——今天发完，明天归零，永远从零开始。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个问题测试你的现状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如果有 2 个以上是「消耗品」，你需要往下看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822960" cy="8229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你的内容能不能脱离「今天」独立存在？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554480" y="2286000"/>
            <a:ext cx="54864" cy="73152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消耗：「今天分享一个小技巧」「最近发现……」——离开发布时间就没价值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54480" y="2651760"/>
            <a:ext cx="54864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资产：「这是我验证 3 年的方法」「这个模型能解决 X 类问题」——任何时候看都有用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822960" cy="8229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54480" y="3246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你的内容之间有没有「复利关系」？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554480" y="3703320"/>
            <a:ext cx="54864" cy="73152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3703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消耗：每条独立存在，A 不能给 B 增值，发 100 条 = 100 次从零开始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54480" y="4069080"/>
            <a:ext cx="54864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资产：A 观点—B 案例—C 工具，互相引用；新内容让旧内容增值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822960" cy="8229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63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4663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发完内容后，你第一反应是什么？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554480" y="5120640"/>
            <a:ext cx="54864" cy="731520"/>
          </a:xfrm>
          <a:prstGeom prst="rect">
            <a:avLst/>
          </a:prstGeom>
          <a:solidFill>
            <a:srgbClr val="C44545"/>
          </a:solidFill>
          <a:ln w="12700">
            <a:solidFill>
              <a:srgbClr val="C44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消耗：「终于发完了，明天写什么？」→ 焦虑，立刻找新素材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554480" y="5486400"/>
            <a:ext cx="54864" cy="4572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资产：「这条能沉淀到哪个模块？」→ 从容，标签、归档、建立关联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水流模式 vs 砖块模式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你选哪个？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水流模式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你在对抗必输的游戏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</a:rPr>
              <a:t>🌊  内容当成水流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</a:rPr>
              <a:t>🌊  每天必须开闸放水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</a:rPr>
              <a:t>🌊  水流过去就没了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E08585"/>
                </a:solidFill>
              </a:rPr>
              <a:t>你在对抗遗忘曲线 +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E08585"/>
                </a:solidFill>
              </a:rPr>
              <a:t>平台新鲜度算法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E08585"/>
                </a:solidFill>
              </a:rPr>
              <a:t>结果：必输。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0116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砖块模式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2651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你在建造可复利的城市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3108960"/>
            <a:ext cx="50292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</a:rPr>
              <a:t>🧱  内容当成砖块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</a:rPr>
              <a:t>🧱  每一块砖独立可复用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F0F5EC"/>
                </a:solidFill>
              </a:rPr>
              <a:t>🧱  搭建成房子 → 大厦 → 城市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97BC62"/>
                </a:solidFill>
              </a:rPr>
              <a:t>房子建好了，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97BC62"/>
                </a:solidFill>
              </a:rPr>
              <a:t>不需要每天重盖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97BC62"/>
                </a:solidFill>
              </a:rPr>
              <a:t>结果：可赢。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一年对比：水流模式 300 小时清零  vs  砖块模式 100 张可复用资产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什么才算「资产」？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不是所有内容都叫资产。真正的资产有 4 个特征：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1168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514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不靠热点，任何时候都有用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01168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8952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可组合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89520" y="2514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能和其他模块自由连接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7472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74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3474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3977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有清晰的使用场景和反馈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291840"/>
            <a:ext cx="5486400" cy="1280160"/>
          </a:xfrm>
          <a:prstGeom prst="roundRect">
            <a:avLst>
              <a:gd name="adj" fmla="val 7143"/>
            </a:avLst>
          </a:prstGeom>
          <a:solidFill>
            <a:srgbClr val="243029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47472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474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89520" y="3474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可增值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89520" y="3977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每次用都能优化，越用越好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四类真正的资产：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394960"/>
            <a:ext cx="11064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0F5EC"/>
                </a:solidFill>
              </a:rPr>
              <a:t>🃏  洞见卡 </a:t>
            </a:r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</a:rPr>
              <a:t>（验证过的认知模型）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0F5EC"/>
                </a:solidFill>
              </a:rPr>
              <a:t>📚  案例库 </a:t>
            </a:r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</a:rPr>
              <a:t>（人物+场景+动作+结果）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0F5EC"/>
                </a:solidFill>
              </a:rPr>
              <a:t>🔧  工具模板 </a:t>
            </a:r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</a:rPr>
              <a:t>（可直接套用的框架）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F0F5EC"/>
                </a:solidFill>
              </a:rPr>
              <a:t>💬  金句库 </a:t>
            </a:r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</a:rPr>
              <a:t>（高浓度表达）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降噪：只装真正有用的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很多人的知识库越装越多，越用越乱 —— 不是不努力，是没筛选标准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28800" cy="1005840"/>
          </a:xfrm>
          <a:prstGeom prst="rect">
            <a:avLst/>
          </a:prstGeom>
          <a:solidFill>
            <a:srgbClr val="1A2419"/>
          </a:solidFill>
          <a:ln w="381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闸门 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377440" y="1828800"/>
            <a:ext cx="73152" cy="10058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82880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说清三件事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0" y="233172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不能一句话说清「是什么 + 为什么 + 怎么做」的，不进主库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828800" cy="1005840"/>
          </a:xfrm>
          <a:prstGeom prst="rect">
            <a:avLst/>
          </a:prstGeom>
          <a:solidFill>
            <a:srgbClr val="1A2419"/>
          </a:solidFill>
          <a:ln w="38100">
            <a:solidFill>
              <a:srgbClr val="FFC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089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闸门 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377440" y="3108960"/>
            <a:ext cx="73152" cy="10058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1089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有边界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361188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没有使用范围（适合 / 不适合 / 失效条件）的，不进主库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1828800" cy="1005840"/>
          </a:xfrm>
          <a:prstGeom prst="rect">
            <a:avLst/>
          </a:prstGeom>
          <a:solidFill>
            <a:srgbClr val="1A2419"/>
          </a:solidFill>
          <a:ln w="381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38912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闸门 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377440" y="4389120"/>
            <a:ext cx="73152" cy="100584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438912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能立刻动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560320" y="489204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没有动作（今天能走一步）的，不进主库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 只有当你能随时调用它时，它才是资产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洞见卡：内容工厂的标准零件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不是长文章，不是 AI 原文 —— 是 6 个部分的标准化卡片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噪音模式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</a:rPr>
              <a:t>•  1000 篇 AI 长文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</a:rPr>
              <a:t>•  500 个对话记录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</a:rPr>
              <a:t>•  200 个「以后再整理」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500" b="1" i="1" dirty="0">
                <a:solidFill>
                  <a:srgbClr val="E08585"/>
                </a:solidFill>
              </a:rPr>
              <a:t>结果：知识坟场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394960" cy="4297680"/>
          </a:xfrm>
          <a:prstGeom prst="roundRect">
            <a:avLst>
              <a:gd name="adj" fmla="val 3191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信号模式：6 部分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0" y="2606040"/>
            <a:ext cx="365760" cy="3657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2606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字以内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3154680"/>
            <a:ext cx="365760" cy="3657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3154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3154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3703320"/>
            <a:ext cx="365760" cy="3657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0" y="3703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3703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 —— 不知道原理就不知道怎么用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4251960"/>
            <a:ext cx="365760" cy="3657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4251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怎么做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0" y="4251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具体步骤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4800600"/>
            <a:ext cx="365760" cy="3657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使用范围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4800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 / 不适用边界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5349240"/>
            <a:ext cx="365760" cy="36576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58000" y="5349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验证效果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29600" y="5349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怎么判断做对了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309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验收标准：能讲清「应用在什么场景的什么情况」—— 卡就合格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分钟闭环：每天 1 张能用的卡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节奏：一开始做不到，可以扩展为 1 小时或 1 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2286000"/>
            <a:ext cx="1097280" cy="10972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5'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挑选材料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45920" y="420624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97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选你遇到的问题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或经典内容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3337560" y="3566160"/>
            <a:ext cx="137160" cy="457200"/>
          </a:xfrm>
          <a:prstGeom prst="rightTriangl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201168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286000"/>
            <a:ext cx="1097280" cy="10972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10'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7472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扩展思考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0" y="420624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4297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不同角度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找对比/反向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263640" y="3566160"/>
            <a:ext cx="137160" cy="457200"/>
          </a:xfrm>
          <a:prstGeom prst="rightTriangl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201168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23760" y="2286000"/>
            <a:ext cx="1097280" cy="10972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10'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0080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提炼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98080" y="420624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297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压缩成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卡片初稿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5400000">
            <a:off x="9189720" y="3566160"/>
            <a:ext cx="137160" cy="457200"/>
          </a:xfrm>
          <a:prstGeom prst="rightTriangl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0" y="2011680"/>
            <a:ext cx="2743200" cy="3474720"/>
          </a:xfrm>
          <a:prstGeom prst="roundRect">
            <a:avLst>
              <a:gd name="adj" fmla="val 5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49840" y="2286000"/>
            <a:ext cx="1097280" cy="109728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49840" y="2286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5'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32688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你判断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424160" y="420624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0" y="42976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删没用的</a:t>
            </a:r>
            <a:endParaRPr lang="en-US" sz="12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决定是否保存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943600"/>
            <a:ext cx="1106424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9436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</a:rPr>
              <a:t>一年下来能积累 300+ 张卡片。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C832"/>
                </a:solidFill>
              </a:rPr>
              <a:t>「重要的是每天都能完成一轮。」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生产引擎：I × F = 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 × 模具 = 洞见（好原料在好模具里自然反应的结果）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737360" y="2103120"/>
            <a:ext cx="1645920" cy="1645920"/>
          </a:xfrm>
          <a:prstGeom prst="ellipse">
            <a:avLst/>
          </a:prstGeom>
          <a:solidFill>
            <a:srgbClr val="243029"/>
          </a:solidFill>
          <a:ln w="38100">
            <a:solidFill>
              <a:srgbClr val="FFC8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37360" y="21031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103120" y="448056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634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痛苦（愤怒/焦虑/无力）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经典（书/大师/访谈）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0" y="24688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577840" y="2103120"/>
            <a:ext cx="1645920" cy="1645920"/>
          </a:xfrm>
          <a:prstGeom prst="ellipse">
            <a:avLst/>
          </a:prstGeom>
          <a:solidFill>
            <a:srgbClr val="243029"/>
          </a:solidFill>
          <a:ln w="38100">
            <a:solidFill>
              <a:srgbClr val="FFC8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21031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57200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模具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43600" y="448056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46634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第一性原理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杠杆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MVP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2468880"/>
            <a:ext cx="365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9418320" y="2103120"/>
            <a:ext cx="1645920" cy="1645920"/>
          </a:xfrm>
          <a:prstGeom prst="ellipse">
            <a:avLst/>
          </a:prstGeom>
          <a:solidFill>
            <a:srgbClr val="243029"/>
          </a:solidFill>
          <a:ln w="381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21031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41248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洞见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84080" y="4480560"/>
            <a:ext cx="91440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46634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4 行 60 字</a:t>
            </a:r>
            <a:endParaRPr lang="en-US" sz="1300" dirty="0"/>
          </a:p>
          <a:p>
            <a:pPr algn="ctr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卡片初稿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规则：先用这 3 个模具跑 30 天，别加戏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拆装车间：1 篇文章 = 10 个资产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把别人的成品变成你的零件 —— 拆块工的标准动作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3200400"/>
          </a:xfrm>
          <a:prstGeom prst="roundRect">
            <a:avLst>
              <a:gd name="adj" fmla="val 4286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774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A241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60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📰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长文章 / 视频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（别人的成品）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rot="5400000">
            <a:off x="3657600" y="3200400"/>
            <a:ext cx="365760" cy="548640"/>
          </a:xfrm>
          <a:prstGeom prst="rightTriangl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560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37744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1A241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468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拆块工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2926080"/>
            <a:ext cx="64008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926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📇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0" y="2926080"/>
            <a:ext cx="64008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0" y="2926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📇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2926080"/>
            <a:ext cx="64008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9260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0" y="3474720"/>
            <a:ext cx="64008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474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📇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0" y="3474720"/>
            <a:ext cx="64008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3474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📇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3474720"/>
            <a:ext cx="640080" cy="36576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4747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📇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297680" y="4114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个零件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 rot="5400000">
            <a:off x="8046720" y="3200400"/>
            <a:ext cx="365760" cy="548640"/>
          </a:xfrm>
          <a:prstGeom prst="rightTriangl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2560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0" y="2377440"/>
            <a:ext cx="2560320" cy="2103120"/>
          </a:xfrm>
          <a:prstGeom prst="roundRect">
            <a:avLst>
              <a:gd name="adj" fmla="val 4348"/>
            </a:avLst>
          </a:prstGeom>
          <a:solidFill>
            <a:srgbClr val="1A241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0" y="2560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🏗️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868680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新文章 / 视频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86800" y="3749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（你的组装品）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0" y="4114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" y="5212080"/>
            <a:ext cx="11064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E08585"/>
                </a:solidFill>
              </a:rPr>
              <a:t>❌  从头造桥：选题 → 想结构 → 写文案 → 拍摄 → 剪辑  </a:t>
            </a:r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E08585"/>
                </a:solidFill>
              </a:rPr>
              <a:t>时间：3 小时+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4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97BC62"/>
                </a:solidFill>
              </a:rPr>
              <a:t>✅  组装桥：选 3-7 张卡片 → 按逻辑排列 → 补充过渡 → 拍摄  </a:t>
            </a:r>
            <a:pPr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97BC62"/>
                </a:solidFill>
              </a:rPr>
              <a:t>时间：30 分钟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多角色 AI 协作：4 个角色 1 份输入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别把 AI 当聊天工具 —— 把它当成工作团队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554480"/>
          </a:xfrm>
          <a:prstGeom prst="roundRect">
            <a:avLst>
              <a:gd name="adj" fmla="val 8824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1005840" cy="1005840"/>
          </a:xfrm>
          <a:prstGeom prst="ellipse">
            <a:avLst/>
          </a:prstGeom>
          <a:solidFill>
            <a:srgbClr val="1A241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01168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0" y="2514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找问题、挑错误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0" y="2880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指出不合理的地方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486400" cy="1554480"/>
          </a:xfrm>
          <a:prstGeom prst="roundRect">
            <a:avLst>
              <a:gd name="adj" fmla="val 8824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103120"/>
            <a:ext cx="1005840" cy="1005840"/>
          </a:xfrm>
          <a:prstGeom prst="ellipse">
            <a:avLst/>
          </a:prstGeom>
          <a:solidFill>
            <a:srgbClr val="1A241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1031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🏗️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772400" y="2011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2400" y="2514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整理框架、梳理流程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2880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把混乱的想法理清楚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5486400" cy="1554480"/>
          </a:xfrm>
          <a:prstGeom prst="roundRect">
            <a:avLst>
              <a:gd name="adj" fmla="val 8824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840480"/>
            <a:ext cx="1005840" cy="1005840"/>
          </a:xfrm>
          <a:prstGeom prst="ellipse">
            <a:avLst/>
          </a:prstGeom>
          <a:solidFill>
            <a:srgbClr val="1A241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404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💡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2011680" y="3749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发散子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011680" y="4251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提供新角度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11680" y="4617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打比方、找对比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3566160"/>
            <a:ext cx="5486400" cy="1554480"/>
          </a:xfrm>
          <a:prstGeom prst="roundRect">
            <a:avLst>
              <a:gd name="adj" fmla="val 8824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3840480"/>
            <a:ext cx="1005840" cy="1005840"/>
          </a:xfrm>
          <a:prstGeom prst="ellipse">
            <a:avLst/>
          </a:prstGeom>
          <a:solidFill>
            <a:srgbClr val="1A241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8404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🔧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772400" y="3749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装配工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772400" y="4251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组装成多渠道版本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0" y="4617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适配公众号/视频/朋友圈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486400"/>
            <a:ext cx="11064240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4864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300" b="1" dirty="0">
                <a:solidFill>
                  <a:srgbClr val="F0F5EC"/>
                </a:solidFill>
              </a:rPr>
              <a:t>同一份输入 → 4 个角色各干各的 → 只保留 2 个产物：</a:t>
            </a:r>
            <a:endParaRPr lang="en-US" sz="13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FFC832"/>
                </a:solidFill>
              </a:rPr>
              <a:t>🃏  1 张洞见卡   +   🏗️  1 个装配骨架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先做事，再学习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不是「想明白再做」，是「做了再想明白」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82880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认知卡点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26517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不是不努力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而是不知道下一步往哪走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48640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11680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58952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动作卡点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9520" y="26517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不是不懂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而是还做不出来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8640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114800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828800" y="4206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反馈卡点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4754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不是没做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而是做了没结果，不知错在哪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931920"/>
            <a:ext cx="5486400" cy="1828800"/>
          </a:xfrm>
          <a:prstGeom prst="roundRect">
            <a:avLst>
              <a:gd name="adj" fmla="val 750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114800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7589520" y="4206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情绪卡点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89520" y="4754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不是没时间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而是被评价/完美主义卡住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217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原则：只学习能解决当下这个卡点的那部分，别贪多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三步法：收 → 试 → 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让灵感从「脑子里的念头」变成「结构化资产」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243029"/>
          </a:solidFill>
          <a:ln w="25400">
            <a:solidFill>
              <a:srgbClr val="2C5F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914400" cy="9144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只收「能用一句反常识的话说清楚」的种子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011680"/>
            <a:ext cx="914400" cy="9144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76072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63440" y="3017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 字短内容发朋友圈/微博试水，看反馈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828800"/>
            <a:ext cx="3657600" cy="1463040"/>
          </a:xfrm>
          <a:prstGeom prst="roundRect">
            <a:avLst>
              <a:gd name="adj" fmla="val 9375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011680"/>
            <a:ext cx="914400" cy="914400"/>
          </a:xfrm>
          <a:prstGeom prst="ellipse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60120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503920" y="3017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200"/>
              </a:spcBef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A/S 级内容做成可调用的「母稿」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11064240" cy="365760"/>
          </a:xfrm>
          <a:prstGeom prst="rect">
            <a:avLst/>
          </a:prstGeom>
          <a:solidFill>
            <a:srgbClr val="243029"/>
          </a:solidFill>
          <a:ln w="12700">
            <a:solidFill>
              <a:srgbClr val="3D54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分级处理（试水后按反馈处理）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8FA8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2062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00584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4297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无回应/只有点赞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937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删除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37560" y="4114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C9A9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42062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9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37947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9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06240" y="4297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点赞少，无讨论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20440" y="4937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整理成卡片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126480" y="4114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2062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58368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4297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有评论 + 建议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09360" y="4937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立即归档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915400" y="4114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FFC8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098280" y="42062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3600" dirty="0"/>
          </a:p>
        </p:txBody>
      </p:sp>
      <p:sp>
        <p:nvSpPr>
          <p:cNvPr id="38" name="Text 36"/>
          <p:cNvSpPr/>
          <p:nvPr/>
        </p:nvSpPr>
        <p:spPr>
          <a:xfrm>
            <a:off x="9372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级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784080" y="42976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战略级素材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098280" y="4937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纳入核心知识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5852160"/>
            <a:ext cx="11064240" cy="9144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8521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F0F5EC"/>
                </a:solidFill>
              </a:rPr>
              <a:t>只要这三步转起来，你就是一台行走的认知印钞机</a:t>
            </a:r>
            <a:endParaRPr lang="en-US" sz="16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ctr" indent="0" marL="0">
              <a:spcBef>
                <a:spcPts val="200"/>
              </a:spcBef>
              <a:buNone/>
            </a:pPr>
            <a:r>
              <a:rPr lang="en-US" sz="1300" i="1" dirty="0">
                <a:solidFill>
                  <a:srgbClr val="FFC832"/>
                </a:solidFill>
              </a:rPr>
              <a:t>「你不是在制造泡沫，是在造资产」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启动飞轮：三件小事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从今天开始，每周必做 —— 飞轮自然启动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改一个问题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84048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023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 旧：明天发什么？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 新：这条能沉淀什么资产？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4572000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加一个动作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63440" y="384048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4023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 旧：发完内容就完事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 新：立刻生成 1 张洞见卡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182880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0116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412480" y="320040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重写流程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503920" y="3840480"/>
            <a:ext cx="548640" cy="36576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40233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 旧：灵感 → 写 → 发 → 焦虑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4846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 新：问题 → 模块 → 组装 → 归档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126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41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死规矩：每发一条，必须同时产出 1 张知识卡片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天闭环 + 每周体检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0 条变成 10 条 —— 飞轮转起来没？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2286000"/>
          </a:xfrm>
          <a:prstGeom prst="roundRect">
            <a:avLst>
              <a:gd name="adj" fmla="val 600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 每周体检 3 个问题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606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本周产出几张可复用卡片？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2606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目标：≥ 3 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30632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旧内容被调用几次？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目标：≥ 3 次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520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520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创作速度比上周快了吗？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3520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目标：✓ 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C44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480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5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 30 天前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0292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</a:rPr>
              <a:t>•  每天想选题 3 小时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</a:rPr>
              <a:t>•  发完就忘，下次重头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</a:rPr>
              <a:t>•  上月 10 条 = 这月 0 条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i="1" dirty="0">
                <a:solidFill>
                  <a:srgbClr val="E08585"/>
                </a:solidFill>
              </a:rPr>
              <a:t>焦虑、迷茫、没方向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4297680"/>
            <a:ext cx="5394960" cy="2194560"/>
          </a:xfrm>
          <a:prstGeom prst="roundRect">
            <a:avLst>
              <a:gd name="adj" fmla="val 6250"/>
            </a:avLst>
          </a:prstGeom>
          <a:solidFill>
            <a:srgbClr val="243029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480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7BC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 30 天后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50292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</a:rPr>
              <a:t>•  选题不焦虑，库里调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</a:rPr>
              <a:t>•  30+ 张可复用资产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300" dirty="0">
                <a:solidFill>
                  <a:srgbClr val="8FA88B"/>
                </a:solidFill>
              </a:rPr>
              <a:t>•  创作速度 +50%，质量稳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spcBef>
                <a:spcPts val="300"/>
              </a:spcBef>
              <a:buNone/>
            </a:pPr>
            <a:r>
              <a:rPr lang="en-US" sz="1400" b="1" i="1" dirty="0">
                <a:solidFill>
                  <a:srgbClr val="97BC62"/>
                </a:solidFill>
              </a:rPr>
              <a:t>从容、复利、有护城河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现在，打开你上周发的内容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C8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选一条，用 5 分钟提取一张洞见卡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943600" y="3749040"/>
            <a:ext cx="274320" cy="457200"/>
          </a:xfrm>
          <a:prstGeom prst="rect">
            <a:avLst/>
          </a:prstGeom>
          <a:solidFill>
            <a:srgbClr val="FFC832"/>
          </a:solidFill>
          <a:ln w="12700">
            <a:solidFill>
              <a:srgbClr val="FFC8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297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F5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这就是你的第一块砖。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1206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F0F5EC"/>
                </a:solidFill>
              </a:rPr>
              <a:t>📞 找到我</a:t>
            </a:r>
            <a:endParaRPr lang="en-US" sz="16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400" dirty="0">
                <a:solidFill>
                  <a:srgbClr val="F0F5EC"/>
                </a:solidFill>
              </a:rPr>
              <a:t>视频号「周盛说」</a:t>
            </a:r>
            <a:endParaRPr lang="en-US" sz="16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97BC62"/>
                </a:solidFill>
              </a:rPr>
              <a:t>新人训练营 · 每周直播答疑</a:t>
            </a:r>
            <a:endParaRPr lang="en-US" sz="16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200" dirty="0">
                <a:solidFill>
                  <a:srgbClr val="97BC62"/>
                </a:solidFill>
              </a:rPr>
              <a:t>Obsidian 私人定制 / 远程搭建</a:t>
            </a:r>
            <a:endParaRPr lang="en-US" sz="16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algn="ctr" indent="0" marL="0">
              <a:spcBef>
                <a:spcPts val="300"/>
              </a:spcBef>
              <a:buNone/>
            </a:pPr>
            <a:r>
              <a:rPr lang="en-US" sz="1300" b="1" dirty="0">
                <a:solidFill>
                  <a:srgbClr val="FFC832"/>
                </a:solidFill>
              </a:rPr>
              <a:t>👇  扫 / 戳 / 搜  「周盛说」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内容创作飞轮 SOP · 周盛讲师版</dc:title>
  <dc:subject>PptxGenJS Presentation</dc:subject>
  <dc:creator>周盛 / 视频号「周盛说」</dc:creator>
  <cp:lastModifiedBy>周盛 / 视频号「周盛说」</cp:lastModifiedBy>
  <cp:revision>1</cp:revision>
  <dcterms:created xsi:type="dcterms:W3CDTF">2026-09-02T08:40:29Z</dcterms:created>
  <dcterms:modified xsi:type="dcterms:W3CDTF">2026-09-02T08:40:29Z</dcterms:modified>
</cp:coreProperties>
</file>